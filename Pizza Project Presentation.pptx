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2.xml" ContentType="application/vnd.openxmlformats-officedocument.drawingml.chartshapes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drawings/drawing3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3" r:id="rId7"/>
    <p:sldId id="264" r:id="rId8"/>
    <p:sldId id="259" r:id="rId9"/>
    <p:sldId id="262" r:id="rId10"/>
    <p:sldId id="265" r:id="rId11"/>
    <p:sldId id="267" r:id="rId12"/>
    <p:sldId id="268" r:id="rId13"/>
    <p:sldId id="266" r:id="rId14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392B"/>
    <a:srgbClr val="F5E6C8"/>
    <a:srgbClr val="963D3B"/>
    <a:srgbClr val="F0D5B9"/>
    <a:srgbClr val="F7D8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OneDrive\Documents\visuals.xlsx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OneDrive\Documents\visual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OneDrive\Documents\visuals.xlsx" TargetMode="Externa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chartUserShapes" Target="../drawings/drawing2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OneDrive\Documents\visual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OneDrive\Documents\visuals.xlsx" TargetMode="Externa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chartUserShapes" Target="../drawings/drawing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 Display" panose="020B00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3200" dirty="0">
                <a:solidFill>
                  <a:srgbClr val="C0392B"/>
                </a:solidFill>
              </a:rPr>
              <a:t>Revenue by Category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ptos Display" panose="020B00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30578937007874013"/>
          <c:y val="0.18360819480898224"/>
          <c:w val="0.41897703412073484"/>
          <c:h val="0.69829505686789139"/>
        </c:manualLayout>
      </c:layout>
      <c:doughnutChart>
        <c:varyColors val="1"/>
        <c:ser>
          <c:idx val="0"/>
          <c:order val="0"/>
          <c:tx>
            <c:strRef>
              <c:f>Sheet1!$B$98</c:f>
              <c:strCache>
                <c:ptCount val="1"/>
                <c:pt idx="0">
                  <c:v>Total_Revenue</c:v>
                </c:pt>
              </c:strCache>
            </c:strRef>
          </c:tx>
          <c:dPt>
            <c:idx val="0"/>
            <c:bubble3D val="0"/>
            <c:spPr>
              <a:solidFill>
                <a:schemeClr val="accent2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35F-4785-88DD-46F88C1CE4EF}"/>
              </c:ext>
            </c:extLst>
          </c:dPt>
          <c:dPt>
            <c:idx val="1"/>
            <c:bubble3D val="0"/>
            <c:spPr>
              <a:solidFill>
                <a:schemeClr val="accent2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35F-4785-88DD-46F88C1CE4EF}"/>
              </c:ext>
            </c:extLst>
          </c:dPt>
          <c:dPt>
            <c:idx val="2"/>
            <c:bubble3D val="0"/>
            <c:spPr>
              <a:solidFill>
                <a:schemeClr val="accent2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35F-4785-88DD-46F88C1CE4EF}"/>
              </c:ext>
            </c:extLst>
          </c:dPt>
          <c:dPt>
            <c:idx val="3"/>
            <c:bubble3D val="0"/>
            <c:spPr>
              <a:solidFill>
                <a:schemeClr val="accent2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935F-4785-88DD-46F88C1CE4EF}"/>
              </c:ext>
            </c:extLst>
          </c:dPt>
          <c:dLbls>
            <c:dLbl>
              <c:idx val="0"/>
              <c:layout>
                <c:manualLayout>
                  <c:x val="0.15833333333333324"/>
                  <c:y val="-1.8518518518518517E-2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800" b="1" i="0" u="none" strike="noStrike" kern="1200" baseline="0">
                        <a:solidFill>
                          <a:srgbClr val="963D3B"/>
                        </a:solidFill>
                        <a:latin typeface="Aptos Display" panose="020B0004020202020204" pitchFamily="34" charset="0"/>
                        <a:ea typeface="+mn-ea"/>
                        <a:cs typeface="Arial" panose="020B0604020202020204" pitchFamily="34" charset="0"/>
                      </a:defRPr>
                    </a:pPr>
                    <a:fld id="{59CFADD3-0B71-4794-A68D-05FF1085D21A}" type="CATEGORYNAME">
                      <a:rPr lang="en-US">
                        <a:solidFill>
                          <a:srgbClr val="963D3B"/>
                        </a:solidFill>
                      </a:rPr>
                      <a:pPr>
                        <a:defRPr sz="1800">
                          <a:solidFill>
                            <a:srgbClr val="963D3B"/>
                          </a:solidFill>
                        </a:defRPr>
                      </a:pPr>
                      <a:t>[CATEGORY NAME]</a:t>
                    </a:fld>
                    <a:r>
                      <a:rPr lang="en-US" baseline="0" dirty="0">
                        <a:solidFill>
                          <a:srgbClr val="963D3B"/>
                        </a:solidFill>
                      </a:rPr>
                      <a:t>
</a:t>
                    </a:r>
                    <a:fld id="{D30DDE13-CA9E-42E5-A773-9C717F408AD6}" type="PERCENTAGE">
                      <a:rPr lang="en-US" sz="3600" b="1" baseline="0">
                        <a:solidFill>
                          <a:srgbClr val="963D3B"/>
                        </a:solidFill>
                      </a:rPr>
                      <a:pPr>
                        <a:defRPr sz="1800">
                          <a:solidFill>
                            <a:srgbClr val="963D3B"/>
                          </a:solidFill>
                        </a:defRPr>
                      </a:pPr>
                      <a:t>[PERCENTAGE]</a:t>
                    </a:fld>
                    <a:endParaRPr lang="en-US" baseline="0" dirty="0">
                      <a:solidFill>
                        <a:srgbClr val="963D3B"/>
                      </a:solidFill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800" b="1" i="0" u="none" strike="noStrike" kern="1200" baseline="0">
                      <a:solidFill>
                        <a:srgbClr val="963D3B"/>
                      </a:solidFill>
                      <a:latin typeface="Aptos Display" panose="020B00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935F-4785-88DD-46F88C1CE4EF}"/>
                </c:ext>
              </c:extLst>
            </c:dLbl>
            <c:dLbl>
              <c:idx val="1"/>
              <c:layout>
                <c:manualLayout>
                  <c:x val="0.19166666666666657"/>
                  <c:y val="-5.0925925925925923E-2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800" b="1" i="0" u="none" strike="noStrike" kern="1200" baseline="0">
                        <a:solidFill>
                          <a:srgbClr val="963D3B"/>
                        </a:solidFill>
                        <a:latin typeface="Aptos Display" panose="020B0004020202020204" pitchFamily="34" charset="0"/>
                        <a:ea typeface="+mn-ea"/>
                        <a:cs typeface="Arial" panose="020B0604020202020204" pitchFamily="34" charset="0"/>
                      </a:defRPr>
                    </a:pPr>
                    <a:fld id="{7CD0C641-D9E6-4D2C-8DB3-79E17427D6A9}" type="CATEGORYNAME">
                      <a:rPr lang="en-US">
                        <a:solidFill>
                          <a:srgbClr val="963D3B"/>
                        </a:solidFill>
                      </a:rPr>
                      <a:pPr>
                        <a:defRPr sz="1800">
                          <a:solidFill>
                            <a:srgbClr val="963D3B"/>
                          </a:solidFill>
                        </a:defRPr>
                      </a:pPr>
                      <a:t>[CATEGORY NAME]</a:t>
                    </a:fld>
                    <a:r>
                      <a:rPr lang="en-US" baseline="0" dirty="0">
                        <a:solidFill>
                          <a:srgbClr val="963D3B"/>
                        </a:solidFill>
                      </a:rPr>
                      <a:t>
</a:t>
                    </a:r>
                    <a:fld id="{10381C2E-5E31-4CCE-86F0-4382D2115398}" type="PERCENTAGE">
                      <a:rPr lang="en-US" sz="3600" b="1" baseline="0">
                        <a:solidFill>
                          <a:srgbClr val="963D3B"/>
                        </a:solidFill>
                      </a:rPr>
                      <a:pPr>
                        <a:defRPr sz="1800">
                          <a:solidFill>
                            <a:srgbClr val="963D3B"/>
                          </a:solidFill>
                        </a:defRPr>
                      </a:pPr>
                      <a:t>[PERCENTAGE]</a:t>
                    </a:fld>
                    <a:endParaRPr lang="en-US" baseline="0" dirty="0">
                      <a:solidFill>
                        <a:srgbClr val="963D3B"/>
                      </a:solidFill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800" b="1" i="0" u="none" strike="noStrike" kern="1200" baseline="0">
                      <a:solidFill>
                        <a:srgbClr val="963D3B"/>
                      </a:solidFill>
                      <a:latin typeface="Aptos Display" panose="020B00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935F-4785-88DD-46F88C1CE4EF}"/>
                </c:ext>
              </c:extLst>
            </c:dLbl>
            <c:dLbl>
              <c:idx val="2"/>
              <c:layout>
                <c:manualLayout>
                  <c:x val="-0.16111111111111112"/>
                  <c:y val="4.6296296296295444E-3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800" b="1" i="0" u="none" strike="noStrike" kern="1200" baseline="0">
                        <a:solidFill>
                          <a:srgbClr val="963D3B"/>
                        </a:solidFill>
                        <a:latin typeface="Aptos Display" panose="020B0004020202020204" pitchFamily="34" charset="0"/>
                        <a:ea typeface="+mn-ea"/>
                        <a:cs typeface="Arial" panose="020B0604020202020204" pitchFamily="34" charset="0"/>
                      </a:defRPr>
                    </a:pPr>
                    <a:fld id="{7CC715AA-02B6-4990-87ED-45B85936797B}" type="CATEGORYNAME">
                      <a:rPr lang="en-US">
                        <a:solidFill>
                          <a:srgbClr val="963D3B"/>
                        </a:solidFill>
                      </a:rPr>
                      <a:pPr>
                        <a:defRPr sz="1800">
                          <a:solidFill>
                            <a:srgbClr val="963D3B"/>
                          </a:solidFill>
                        </a:defRPr>
                      </a:pPr>
                      <a:t>[CATEGORY NAME]</a:t>
                    </a:fld>
                    <a:r>
                      <a:rPr lang="en-US" baseline="0" dirty="0">
                        <a:solidFill>
                          <a:srgbClr val="963D3B"/>
                        </a:solidFill>
                      </a:rPr>
                      <a:t>
</a:t>
                    </a:r>
                    <a:fld id="{2D1E8DE6-7842-4799-9D54-B23BBA58DC95}" type="PERCENTAGE">
                      <a:rPr lang="en-US" sz="3600" b="1" baseline="0">
                        <a:solidFill>
                          <a:srgbClr val="963D3B"/>
                        </a:solidFill>
                      </a:rPr>
                      <a:pPr>
                        <a:defRPr sz="1800">
                          <a:solidFill>
                            <a:srgbClr val="963D3B"/>
                          </a:solidFill>
                        </a:defRPr>
                      </a:pPr>
                      <a:t>[PERCENTAGE]</a:t>
                    </a:fld>
                    <a:endParaRPr lang="en-US" baseline="0" dirty="0">
                      <a:solidFill>
                        <a:srgbClr val="963D3B"/>
                      </a:solidFill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800" b="1" i="0" u="none" strike="noStrike" kern="1200" baseline="0">
                      <a:solidFill>
                        <a:srgbClr val="963D3B"/>
                      </a:solidFill>
                      <a:latin typeface="Aptos Display" panose="020B00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935F-4785-88DD-46F88C1CE4EF}"/>
                </c:ext>
              </c:extLst>
            </c:dLbl>
            <c:dLbl>
              <c:idx val="3"/>
              <c:layout>
                <c:manualLayout>
                  <c:x val="-0.19293916173594594"/>
                  <c:y val="-1.2849742612926346E-2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800" b="1" i="0" u="none" strike="noStrike" kern="1200" baseline="0">
                        <a:solidFill>
                          <a:srgbClr val="963D3B"/>
                        </a:solidFill>
                        <a:latin typeface="Aptos Display" panose="020B0004020202020204" pitchFamily="34" charset="0"/>
                        <a:ea typeface="+mn-ea"/>
                        <a:cs typeface="Arial" panose="020B0604020202020204" pitchFamily="34" charset="0"/>
                      </a:defRPr>
                    </a:pPr>
                    <a:fld id="{FF568A07-935E-4F1C-BA72-4796185B5184}" type="CATEGORYNAME">
                      <a:rPr lang="en-US">
                        <a:solidFill>
                          <a:srgbClr val="963D3B"/>
                        </a:solidFill>
                      </a:rPr>
                      <a:pPr>
                        <a:defRPr sz="1800">
                          <a:solidFill>
                            <a:srgbClr val="963D3B"/>
                          </a:solidFill>
                        </a:defRPr>
                      </a:pPr>
                      <a:t>[CATEGORY NAME]</a:t>
                    </a:fld>
                    <a:r>
                      <a:rPr lang="en-US" dirty="0">
                        <a:solidFill>
                          <a:srgbClr val="963D3B"/>
                        </a:solidFill>
                      </a:rPr>
                      <a:t>
</a:t>
                    </a:r>
                    <a:fld id="{8409FCC9-ECCC-4B3A-ABE5-70EA074051D3}" type="PERCENTAGE">
                      <a:rPr lang="en-US" sz="3600">
                        <a:solidFill>
                          <a:srgbClr val="963D3B"/>
                        </a:solidFill>
                      </a:rPr>
                      <a:pPr>
                        <a:defRPr sz="1800">
                          <a:solidFill>
                            <a:srgbClr val="963D3B"/>
                          </a:solidFill>
                        </a:defRPr>
                      </a:pPr>
                      <a:t>[PERCENTAGE]</a:t>
                    </a:fld>
                    <a:endParaRPr lang="en-US" dirty="0">
                      <a:solidFill>
                        <a:srgbClr val="963D3B"/>
                      </a:solidFill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800" b="1" i="0" u="none" strike="noStrike" kern="1200" baseline="0">
                      <a:solidFill>
                        <a:srgbClr val="963D3B"/>
                      </a:solidFill>
                      <a:latin typeface="Aptos Display" panose="020B00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8922230245328639"/>
                      <c:h val="0.21562842303553506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935F-4785-88DD-46F88C1CE4E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 Display" panose="020B00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Sheet1!$A$99:$A$102</c:f>
              <c:strCache>
                <c:ptCount val="4"/>
                <c:pt idx="0">
                  <c:v>Classic</c:v>
                </c:pt>
                <c:pt idx="1">
                  <c:v>Supreme</c:v>
                </c:pt>
                <c:pt idx="2">
                  <c:v>Chicken</c:v>
                </c:pt>
                <c:pt idx="3">
                  <c:v>Veggie</c:v>
                </c:pt>
              </c:strCache>
            </c:strRef>
          </c:cat>
          <c:val>
            <c:numRef>
              <c:f>Sheet1!$B$99:$B$102</c:f>
              <c:numCache>
                <c:formatCode>General</c:formatCode>
                <c:ptCount val="4"/>
                <c:pt idx="0">
                  <c:v>220053.1</c:v>
                </c:pt>
                <c:pt idx="1">
                  <c:v>208197</c:v>
                </c:pt>
                <c:pt idx="2">
                  <c:v>195919.5</c:v>
                </c:pt>
                <c:pt idx="3">
                  <c:v>193690.45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35F-4785-88DD-46F88C1CE4E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600" b="1">
          <a:latin typeface="Aptos Display" panose="020B00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rgbClr val="C0392B"/>
                </a:solidFill>
                <a:latin typeface="Aptos Display" panose="020B00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3200" b="1" dirty="0">
                <a:solidFill>
                  <a:srgbClr val="C0392B"/>
                </a:solidFill>
              </a:rPr>
              <a:t>Revenue by Size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rgbClr val="C0392B"/>
              </a:solidFill>
              <a:latin typeface="Aptos Display" panose="020B00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Sheet1!$B$80</c:f>
              <c:strCache>
                <c:ptCount val="1"/>
                <c:pt idx="0">
                  <c:v>Total_Revenue</c:v>
                </c:pt>
              </c:strCache>
            </c:strRef>
          </c:tx>
          <c:spPr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FF3-4D74-B183-BDD6E2CA83ED}"/>
              </c:ext>
            </c:extLst>
          </c:dPt>
          <c:dPt>
            <c:idx val="2"/>
            <c:invertIfNegative val="0"/>
            <c:bubble3D val="0"/>
            <c:spPr>
              <a:solidFill>
                <a:srgbClr val="963D3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FF3-4D74-B183-BDD6E2CA83ED}"/>
              </c:ext>
            </c:extLst>
          </c:dPt>
          <c:cat>
            <c:strRef>
              <c:f>Sheet1!$A$81:$A$85</c:f>
              <c:strCache>
                <c:ptCount val="5"/>
                <c:pt idx="0">
                  <c:v>S</c:v>
                </c:pt>
                <c:pt idx="1">
                  <c:v>M</c:v>
                </c:pt>
                <c:pt idx="2">
                  <c:v>L</c:v>
                </c:pt>
                <c:pt idx="3">
                  <c:v>XL</c:v>
                </c:pt>
                <c:pt idx="4">
                  <c:v>XXL</c:v>
                </c:pt>
              </c:strCache>
            </c:strRef>
          </c:cat>
          <c:val>
            <c:numRef>
              <c:f>Sheet1!$B$81:$B$85</c:f>
              <c:numCache>
                <c:formatCode>#.##,\K</c:formatCode>
                <c:ptCount val="5"/>
                <c:pt idx="0">
                  <c:v>178076.5</c:v>
                </c:pt>
                <c:pt idx="1">
                  <c:v>249382.25</c:v>
                </c:pt>
                <c:pt idx="2">
                  <c:v>375318.7</c:v>
                </c:pt>
                <c:pt idx="3">
                  <c:v>14076</c:v>
                </c:pt>
                <c:pt idx="4">
                  <c:v>1006.6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FF3-4D74-B183-BDD6E2CA83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94780192"/>
        <c:axId val="894788352"/>
      </c:barChart>
      <c:catAx>
        <c:axId val="894780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C0392B"/>
                </a:solidFill>
                <a:latin typeface="Aptos Display" panose="020B00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894788352"/>
        <c:crosses val="autoZero"/>
        <c:auto val="1"/>
        <c:lblAlgn val="ctr"/>
        <c:lblOffset val="100"/>
        <c:noMultiLvlLbl val="0"/>
      </c:catAx>
      <c:valAx>
        <c:axId val="894788352"/>
        <c:scaling>
          <c:orientation val="minMax"/>
        </c:scaling>
        <c:delete val="0"/>
        <c:axPos val="l"/>
        <c:numFmt formatCode="###,\K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C0392B"/>
                </a:solidFill>
                <a:latin typeface="Aptos Display" panose="020B00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8947801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600">
          <a:solidFill>
            <a:srgbClr val="C0392B"/>
          </a:solidFill>
          <a:latin typeface="Aptos Display" panose="020B00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60" b="0" i="0" u="none" strike="noStrike" kern="1200" spc="0" baseline="0">
                <a:solidFill>
                  <a:srgbClr val="C0392B"/>
                </a:solidFill>
                <a:latin typeface="Aptos Display" panose="020B0004020202020204" pitchFamily="34" charset="0"/>
                <a:ea typeface="+mn-ea"/>
                <a:cs typeface="+mn-cs"/>
              </a:defRPr>
            </a:pPr>
            <a:r>
              <a:rPr lang="en-IN" sz="2400" b="1" dirty="0"/>
              <a:t>Total Orders by Hour of the Day</a:t>
            </a:r>
            <a:endParaRPr lang="en-US" sz="2400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60" b="0" i="0" u="none" strike="noStrike" kern="1200" spc="0" baseline="0">
              <a:solidFill>
                <a:srgbClr val="C0392B"/>
              </a:solidFill>
              <a:latin typeface="Aptos Display" panose="020B0004020202020204" pitchFamily="34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9.1708954512455365E-2"/>
          <c:y val="0.16708718737720224"/>
          <c:w val="0.86056138948572602"/>
          <c:h val="0.70234485148748804"/>
        </c:manualLayout>
      </c:layout>
      <c:lineChart>
        <c:grouping val="standard"/>
        <c:varyColors val="0"/>
        <c:ser>
          <c:idx val="1"/>
          <c:order val="1"/>
          <c:tx>
            <c:strRef>
              <c:f>Sheet1!$B$45</c:f>
              <c:strCache>
                <c:ptCount val="1"/>
                <c:pt idx="0">
                  <c:v>Total_Orders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cat>
            <c:numRef>
              <c:f>Sheet1!$A$46:$A$60</c:f>
              <c:numCache>
                <c:formatCode>General</c:formatCode>
                <c:ptCount val="15"/>
                <c:pt idx="0">
                  <c:v>9</c:v>
                </c:pt>
                <c:pt idx="1">
                  <c:v>10</c:v>
                </c:pt>
                <c:pt idx="2">
                  <c:v>11</c:v>
                </c:pt>
                <c:pt idx="3">
                  <c:v>12</c:v>
                </c:pt>
                <c:pt idx="4">
                  <c:v>13</c:v>
                </c:pt>
                <c:pt idx="5">
                  <c:v>14</c:v>
                </c:pt>
                <c:pt idx="6">
                  <c:v>15</c:v>
                </c:pt>
                <c:pt idx="7">
                  <c:v>16</c:v>
                </c:pt>
                <c:pt idx="8">
                  <c:v>17</c:v>
                </c:pt>
                <c:pt idx="9">
                  <c:v>18</c:v>
                </c:pt>
                <c:pt idx="10">
                  <c:v>19</c:v>
                </c:pt>
                <c:pt idx="11">
                  <c:v>20</c:v>
                </c:pt>
                <c:pt idx="12">
                  <c:v>21</c:v>
                </c:pt>
                <c:pt idx="13">
                  <c:v>22</c:v>
                </c:pt>
                <c:pt idx="14">
                  <c:v>23</c:v>
                </c:pt>
              </c:numCache>
            </c:numRef>
          </c:cat>
          <c:val>
            <c:numRef>
              <c:f>Sheet1!$B$46:$B$60</c:f>
              <c:numCache>
                <c:formatCode>General</c:formatCode>
                <c:ptCount val="15"/>
                <c:pt idx="0">
                  <c:v>1</c:v>
                </c:pt>
                <c:pt idx="1">
                  <c:v>8</c:v>
                </c:pt>
                <c:pt idx="2">
                  <c:v>1231</c:v>
                </c:pt>
                <c:pt idx="3">
                  <c:v>2520</c:v>
                </c:pt>
                <c:pt idx="4">
                  <c:v>2455</c:v>
                </c:pt>
                <c:pt idx="5">
                  <c:v>1472</c:v>
                </c:pt>
                <c:pt idx="6">
                  <c:v>1468</c:v>
                </c:pt>
                <c:pt idx="7">
                  <c:v>1920</c:v>
                </c:pt>
                <c:pt idx="8">
                  <c:v>2336</c:v>
                </c:pt>
                <c:pt idx="9">
                  <c:v>2399</c:v>
                </c:pt>
                <c:pt idx="10">
                  <c:v>2009</c:v>
                </c:pt>
                <c:pt idx="11">
                  <c:v>1642</c:v>
                </c:pt>
                <c:pt idx="12">
                  <c:v>1198</c:v>
                </c:pt>
                <c:pt idx="13">
                  <c:v>663</c:v>
                </c:pt>
                <c:pt idx="14">
                  <c:v>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706-4036-9946-09DB2E6EBD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41567"/>
        <c:axId val="2155487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Sheet1!$A$45</c15:sqref>
                        </c15:formulaRef>
                      </c:ext>
                    </c:extLst>
                    <c:strCache>
                      <c:ptCount val="1"/>
                      <c:pt idx="0">
                        <c:v>Order_Hour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Sheet1!$A$46:$A$60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9</c:v>
                      </c:pt>
                      <c:pt idx="1">
                        <c:v>10</c:v>
                      </c:pt>
                      <c:pt idx="2">
                        <c:v>11</c:v>
                      </c:pt>
                      <c:pt idx="3">
                        <c:v>12</c:v>
                      </c:pt>
                      <c:pt idx="4">
                        <c:v>13</c:v>
                      </c:pt>
                      <c:pt idx="5">
                        <c:v>14</c:v>
                      </c:pt>
                      <c:pt idx="6">
                        <c:v>15</c:v>
                      </c:pt>
                      <c:pt idx="7">
                        <c:v>16</c:v>
                      </c:pt>
                      <c:pt idx="8">
                        <c:v>17</c:v>
                      </c:pt>
                      <c:pt idx="9">
                        <c:v>18</c:v>
                      </c:pt>
                      <c:pt idx="10">
                        <c:v>19</c:v>
                      </c:pt>
                      <c:pt idx="11">
                        <c:v>20</c:v>
                      </c:pt>
                      <c:pt idx="12">
                        <c:v>21</c:v>
                      </c:pt>
                      <c:pt idx="13">
                        <c:v>22</c:v>
                      </c:pt>
                      <c:pt idx="14">
                        <c:v>23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Sheet1!$A$46:$A$60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9</c:v>
                      </c:pt>
                      <c:pt idx="1">
                        <c:v>10</c:v>
                      </c:pt>
                      <c:pt idx="2">
                        <c:v>11</c:v>
                      </c:pt>
                      <c:pt idx="3">
                        <c:v>12</c:v>
                      </c:pt>
                      <c:pt idx="4">
                        <c:v>13</c:v>
                      </c:pt>
                      <c:pt idx="5">
                        <c:v>14</c:v>
                      </c:pt>
                      <c:pt idx="6">
                        <c:v>15</c:v>
                      </c:pt>
                      <c:pt idx="7">
                        <c:v>16</c:v>
                      </c:pt>
                      <c:pt idx="8">
                        <c:v>17</c:v>
                      </c:pt>
                      <c:pt idx="9">
                        <c:v>18</c:v>
                      </c:pt>
                      <c:pt idx="10">
                        <c:v>19</c:v>
                      </c:pt>
                      <c:pt idx="11">
                        <c:v>20</c:v>
                      </c:pt>
                      <c:pt idx="12">
                        <c:v>21</c:v>
                      </c:pt>
                      <c:pt idx="13">
                        <c:v>22</c:v>
                      </c:pt>
                      <c:pt idx="14">
                        <c:v>23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1-B706-4036-9946-09DB2E6EBDC5}"/>
                  </c:ext>
                </c:extLst>
              </c15:ser>
            </c15:filteredLineSeries>
          </c:ext>
        </c:extLst>
      </c:lineChart>
      <c:catAx>
        <c:axId val="21415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rgbClr val="C0392B"/>
                </a:solidFill>
                <a:latin typeface="Aptos Display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2155487"/>
        <c:crosses val="autoZero"/>
        <c:auto val="1"/>
        <c:lblAlgn val="ctr"/>
        <c:lblOffset val="100"/>
        <c:noMultiLvlLbl val="0"/>
      </c:catAx>
      <c:valAx>
        <c:axId val="215548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rgbClr val="C0392B"/>
                </a:solidFill>
                <a:latin typeface="Aptos Display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21415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800">
          <a:solidFill>
            <a:srgbClr val="C0392B"/>
          </a:solidFill>
          <a:latin typeface="Aptos Display" panose="020B0004020202020204" pitchFamily="34" charset="0"/>
        </a:defRPr>
      </a:pPr>
      <a:endParaRPr lang="en-US"/>
    </a:p>
  </c:txPr>
  <c:externalData r:id="rId3">
    <c:autoUpdate val="0"/>
  </c:externalData>
  <c:userShapes r:id="rId4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320" b="0" i="0" u="none" strike="noStrike" kern="1200" spc="0" baseline="0">
                <a:solidFill>
                  <a:srgbClr val="C0392B"/>
                </a:solidFill>
                <a:latin typeface="Aptos Display" panose="020B00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2800" b="1" dirty="0"/>
              <a:t>Total Orders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20" b="0" i="0" u="none" strike="noStrike" kern="1200" spc="0" baseline="0">
              <a:solidFill>
                <a:srgbClr val="C0392B"/>
              </a:solidFill>
              <a:latin typeface="Aptos Display" panose="020B00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Sheet1!$C$64</c:f>
              <c:strCache>
                <c:ptCount val="1"/>
                <c:pt idx="0">
                  <c:v>Total_Orders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395-4E91-B595-603226A9DB03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395-4E91-B595-603226A9DB03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0395-4E91-B595-603226A9DB03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0395-4E91-B595-603226A9DB03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0395-4E91-B595-603226A9DB03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0395-4E91-B595-603226A9DB03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0395-4E91-B595-603226A9DB03}"/>
              </c:ext>
            </c:extLst>
          </c:dPt>
          <c:cat>
            <c:strRef>
              <c:f>Sheet1!$B$65:$B$71</c:f>
              <c:strCache>
                <c:ptCount val="7"/>
                <c:pt idx="0">
                  <c:v>Sunday</c:v>
                </c:pt>
                <c:pt idx="1">
                  <c:v>Monday</c:v>
                </c:pt>
                <c:pt idx="2">
                  <c:v>Tuesday</c:v>
                </c:pt>
                <c:pt idx="3">
                  <c:v>Wednesday</c:v>
                </c:pt>
                <c:pt idx="4">
                  <c:v>Thursday</c:v>
                </c:pt>
                <c:pt idx="5">
                  <c:v>Friday</c:v>
                </c:pt>
                <c:pt idx="6">
                  <c:v>Saturday</c:v>
                </c:pt>
              </c:strCache>
            </c:strRef>
          </c:cat>
          <c:val>
            <c:numRef>
              <c:f>Sheet1!$C$65:$C$71</c:f>
              <c:numCache>
                <c:formatCode>General</c:formatCode>
                <c:ptCount val="7"/>
                <c:pt idx="0">
                  <c:v>2963</c:v>
                </c:pt>
                <c:pt idx="1">
                  <c:v>3110</c:v>
                </c:pt>
                <c:pt idx="2">
                  <c:v>3292</c:v>
                </c:pt>
                <c:pt idx="3">
                  <c:v>3463</c:v>
                </c:pt>
                <c:pt idx="4">
                  <c:v>3053</c:v>
                </c:pt>
                <c:pt idx="5">
                  <c:v>2633</c:v>
                </c:pt>
                <c:pt idx="6">
                  <c:v>2836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0395-4E91-B595-603226A9DB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14357888"/>
        <c:axId val="814358848"/>
      </c:barChart>
      <c:catAx>
        <c:axId val="814357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rgbClr val="C0392B"/>
                </a:solidFill>
                <a:latin typeface="Aptos Display" panose="020B00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814358848"/>
        <c:crosses val="autoZero"/>
        <c:auto val="1"/>
        <c:lblAlgn val="ctr"/>
        <c:lblOffset val="100"/>
        <c:noMultiLvlLbl val="0"/>
      </c:catAx>
      <c:valAx>
        <c:axId val="8143588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rgbClr val="C0392B"/>
                </a:solidFill>
                <a:latin typeface="Aptos Display" panose="020B00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814357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100">
          <a:solidFill>
            <a:srgbClr val="C0392B"/>
          </a:solidFill>
          <a:latin typeface="Aptos Display" panose="020B00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 Display" panose="020B0004020202020204" pitchFamily="34" charset="0"/>
                <a:ea typeface="+mn-ea"/>
                <a:cs typeface="+mn-cs"/>
              </a:defRPr>
            </a:pPr>
            <a:r>
              <a:rPr lang="en-IN" sz="2500" b="1" dirty="0">
                <a:solidFill>
                  <a:srgbClr val="C0392B"/>
                </a:solidFill>
              </a:rPr>
              <a:t>Order Distribution: Weekday vs Weekend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ptos Display" panose="020B0004020202020204" pitchFamily="34" charset="0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2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033-41F5-8B22-C6B9DE845AC1}"/>
              </c:ext>
            </c:extLst>
          </c:dPt>
          <c:dPt>
            <c:idx val="1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033-41F5-8B22-C6B9DE845AC1}"/>
              </c:ext>
            </c:extLst>
          </c:dPt>
          <c:dLbls>
            <c:dLbl>
              <c:idx val="0"/>
              <c:layout>
                <c:manualLayout>
                  <c:x val="0.22638899825021863"/>
                  <c:y val="-9.9537037037037118E-2"/>
                </c:manualLayout>
              </c:layout>
              <c:tx>
                <c:rich>
                  <a:bodyPr/>
                  <a:lstStyle/>
                  <a:p>
                    <a:fld id="{0D4BDC07-9856-441A-B20C-6018EF7814C9}" type="CATEGORYNAME">
                      <a:rPr lang="en-US" sz="1600">
                        <a:solidFill>
                          <a:srgbClr val="C0392B"/>
                        </a:solidFill>
                      </a:rPr>
                      <a:pPr/>
                      <a:t>[CATEGORY NAME]</a:t>
                    </a:fld>
                    <a:endParaRPr lang="en-US" sz="1600" dirty="0">
                      <a:solidFill>
                        <a:srgbClr val="C0392B"/>
                      </a:solidFill>
                    </a:endParaRPr>
                  </a:p>
                  <a:p>
                    <a:fld id="{0CD2184B-0584-4DB2-9DD2-5BBA29052674}" type="VALUE">
                      <a:rPr lang="en-US" sz="2800" b="1">
                        <a:solidFill>
                          <a:srgbClr val="C0392B"/>
                        </a:solidFill>
                      </a:rPr>
                      <a:pPr/>
                      <a:t>[VALUE]</a:t>
                    </a:fld>
                    <a:endParaRPr lang="en-IN"/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1865833333333333"/>
                      <c:h val="0.21282407407407408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3033-41F5-8B22-C6B9DE845AC1}"/>
                </c:ext>
              </c:extLst>
            </c:dLbl>
            <c:dLbl>
              <c:idx val="1"/>
              <c:layout>
                <c:manualLayout>
                  <c:x val="-0.18611111111111112"/>
                  <c:y val="-1.8518518518518563E-2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 algn="ctr" rtl="0">
                      <a:defRPr sz="900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ptos Display" panose="020B0004020202020204" pitchFamily="34" charset="0"/>
                        <a:ea typeface="+mn-ea"/>
                        <a:cs typeface="+mn-cs"/>
                      </a:defRPr>
                    </a:pPr>
                    <a:fld id="{BCB8B756-04F7-4BC4-BE07-BC52F47ED845}" type="CATEGORYNAME">
                      <a:rPr lang="en-US" sz="1600">
                        <a:solidFill>
                          <a:srgbClr val="963D3B"/>
                        </a:solidFill>
                      </a:rPr>
                      <a:pPr algn="ctr" rtl="0">
                        <a:defRPr/>
                      </a:pPr>
                      <a:t>[CATEGORY NAME]</a:t>
                    </a:fld>
                    <a:endParaRPr lang="en-US" sz="1400" dirty="0">
                      <a:solidFill>
                        <a:srgbClr val="963D3B"/>
                      </a:solidFill>
                    </a:endParaRPr>
                  </a:p>
                  <a:p>
                    <a:pPr algn="ctr" rtl="0">
                      <a:defRPr/>
                    </a:pPr>
                    <a:fld id="{1138891C-1A37-47D4-9137-D910C791C33B}" type="VALUE">
                      <a:rPr lang="en-US" sz="2800" b="1">
                        <a:solidFill>
                          <a:srgbClr val="C0392B"/>
                        </a:solidFill>
                      </a:rPr>
                      <a:pPr algn="ctr" rtl="0">
                        <a:defRPr/>
                      </a:pPr>
                      <a:t>[VALUE]</a:t>
                    </a:fld>
                    <a:endParaRPr lang="en-IN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 algn="ctr" rtl="0"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ptos Display" panose="020B00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3033-41F5-8B22-C6B9DE845AC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 Display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Sheet1!$A$34:$A$35</c:f>
              <c:strCache>
                <c:ptCount val="2"/>
                <c:pt idx="0">
                  <c:v>Weekday</c:v>
                </c:pt>
                <c:pt idx="1">
                  <c:v>Weekend</c:v>
                </c:pt>
              </c:strCache>
            </c:strRef>
          </c:cat>
          <c:val>
            <c:numRef>
              <c:f>Sheet1!$B$34:$B$35</c:f>
              <c:numCache>
                <c:formatCode>0.00%</c:formatCode>
                <c:ptCount val="2"/>
                <c:pt idx="0">
                  <c:v>0.72840000000000005</c:v>
                </c:pt>
                <c:pt idx="1">
                  <c:v>0.27160000000000001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033-41F5-8B22-C6B9DE845AC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Aptos Display" panose="020B0004020202020204" pitchFamily="34" charset="0"/>
        </a:defRPr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sp macro="" textlink="">
      <cdr:nvSpPr>
        <cdr:cNvPr id="2" name="Rectangle: Rounded Corners 1">
          <a:extLst xmlns:a="http://schemas.openxmlformats.org/drawingml/2006/main">
            <a:ext uri="{FF2B5EF4-FFF2-40B4-BE49-F238E27FC236}">
              <a16:creationId xmlns:a16="http://schemas.microsoft.com/office/drawing/2014/main" id="{E8497995-80CF-EE9C-F271-E057E4F741C2}"/>
            </a:ext>
          </a:extLst>
        </cdr:cNvPr>
        <cdr:cNvSpPr/>
      </cdr:nvSpPr>
      <cdr:spPr>
        <a:xfrm xmlns:a="http://schemas.openxmlformats.org/drawingml/2006/main">
          <a:off x="-609600" y="-3361057"/>
          <a:ext cx="6781801" cy="4563749"/>
        </a:xfrm>
        <a:prstGeom xmlns:a="http://schemas.openxmlformats.org/drawingml/2006/main" prst="roundRect">
          <a:avLst/>
        </a:prstGeom>
        <a:noFill xmlns:a="http://schemas.openxmlformats.org/drawingml/2006/main"/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n-IN" kern="1200"/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sp macro="" textlink="">
      <cdr:nvSpPr>
        <cdr:cNvPr id="2" name="Rectangle: Rounded Corners 1">
          <a:extLst xmlns:a="http://schemas.openxmlformats.org/drawingml/2006/main">
            <a:ext uri="{FF2B5EF4-FFF2-40B4-BE49-F238E27FC236}">
              <a16:creationId xmlns:a16="http://schemas.microsoft.com/office/drawing/2014/main" id="{1E4A0FB8-8866-0C50-1EA1-738B3D901E1A}"/>
            </a:ext>
          </a:extLst>
        </cdr:cNvPr>
        <cdr:cNvSpPr/>
      </cdr:nvSpPr>
      <cdr:spPr>
        <a:xfrm xmlns:a="http://schemas.openxmlformats.org/drawingml/2006/main">
          <a:off x="51150" y="0"/>
          <a:ext cx="10845450" cy="5604006"/>
        </a:xfrm>
        <a:prstGeom xmlns:a="http://schemas.openxmlformats.org/drawingml/2006/main" prst="roundRect">
          <a:avLst/>
        </a:prstGeom>
        <a:noFill xmlns:a="http://schemas.openxmlformats.org/drawingml/2006/main"/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n-IN" kern="1200"/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0.27444</cdr:x>
      <cdr:y>0.3463</cdr:y>
    </cdr:from>
    <cdr:to>
      <cdr:x>0.34531</cdr:x>
      <cdr:y>0.3463</cdr:y>
    </cdr:to>
    <cdr:cxnSp macro="">
      <cdr:nvCxnSpPr>
        <cdr:cNvPr id="4" name="Straight Connector 3">
          <a:extLst xmlns:a="http://schemas.openxmlformats.org/drawingml/2006/main">
            <a:ext uri="{FF2B5EF4-FFF2-40B4-BE49-F238E27FC236}">
              <a16:creationId xmlns:a16="http://schemas.microsoft.com/office/drawing/2014/main" id="{43EC9B24-1553-972A-5F6E-65A91D2E05E6}"/>
            </a:ext>
          </a:extLst>
        </cdr:cNvPr>
        <cdr:cNvCxnSpPr/>
      </cdr:nvCxnSpPr>
      <cdr:spPr>
        <a:xfrm xmlns:a="http://schemas.openxmlformats.org/drawingml/2006/main">
          <a:off x="1254760" y="949960"/>
          <a:ext cx="324000" cy="0"/>
        </a:xfrm>
        <a:prstGeom xmlns:a="http://schemas.openxmlformats.org/drawingml/2006/main" prst="line">
          <a:avLst/>
        </a:prstGeom>
      </cdr:spPr>
      <cdr:style>
        <a:lnRef xmlns:a="http://schemas.openxmlformats.org/drawingml/2006/main" idx="1">
          <a:schemeClr val="accent2"/>
        </a:lnRef>
        <a:fillRef xmlns:a="http://schemas.openxmlformats.org/drawingml/2006/main" idx="0">
          <a:schemeClr val="accent2"/>
        </a:fillRef>
        <a:effectRef xmlns:a="http://schemas.openxmlformats.org/drawingml/2006/main" idx="0">
          <a:schemeClr val="accent2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0.685</cdr:x>
      <cdr:y>0.64722</cdr:y>
    </cdr:from>
    <cdr:to>
      <cdr:x>0.76374</cdr:x>
      <cdr:y>0.64722</cdr:y>
    </cdr:to>
    <cdr:cxnSp macro="">
      <cdr:nvCxnSpPr>
        <cdr:cNvPr id="3" name="Straight Connector 2">
          <a:extLst xmlns:a="http://schemas.openxmlformats.org/drawingml/2006/main">
            <a:ext uri="{FF2B5EF4-FFF2-40B4-BE49-F238E27FC236}">
              <a16:creationId xmlns:a16="http://schemas.microsoft.com/office/drawing/2014/main" id="{FB478B8E-9A24-0CE8-448F-5ABDEF785300}"/>
            </a:ext>
          </a:extLst>
        </cdr:cNvPr>
        <cdr:cNvCxnSpPr/>
      </cdr:nvCxnSpPr>
      <cdr:spPr>
        <a:xfrm xmlns:a="http://schemas.openxmlformats.org/drawingml/2006/main">
          <a:off x="3131820" y="1775460"/>
          <a:ext cx="360000" cy="0"/>
        </a:xfrm>
        <a:prstGeom xmlns:a="http://schemas.openxmlformats.org/drawingml/2006/main" prst="line">
          <a:avLst/>
        </a:prstGeom>
      </cdr:spPr>
      <cdr:style>
        <a:lnRef xmlns:a="http://schemas.openxmlformats.org/drawingml/2006/main" idx="1">
          <a:schemeClr val="accent2"/>
        </a:lnRef>
        <a:fillRef xmlns:a="http://schemas.openxmlformats.org/drawingml/2006/main" idx="0">
          <a:schemeClr val="accent2"/>
        </a:fillRef>
        <a:effectRef xmlns:a="http://schemas.openxmlformats.org/drawingml/2006/main" idx="0">
          <a:schemeClr val="accent2"/>
        </a:effectRef>
        <a:fontRef xmlns:a="http://schemas.openxmlformats.org/drawingml/2006/main" idx="minor">
          <a:schemeClr val="tx1"/>
        </a:fontRef>
      </cdr:style>
    </cdr:cxn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microsoft.com/office/2007/relationships/hdphoto" Target="../media/hdphoto2.wd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microsoft.com/office/2007/relationships/hdphoto" Target="../media/hdphoto1.wdp"/><Relationship Id="rId10" Type="http://schemas.openxmlformats.org/officeDocument/2006/relationships/image" Target="../media/image8.png"/><Relationship Id="rId4" Type="http://schemas.openxmlformats.org/officeDocument/2006/relationships/image" Target="../media/image10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2.xml"/><Relationship Id="rId5" Type="http://schemas.openxmlformats.org/officeDocument/2006/relationships/chart" Target="../charts/char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hart" Target="../charts/chart3.xml"/><Relationship Id="rId3" Type="http://schemas.openxmlformats.org/officeDocument/2006/relationships/image" Target="../media/image16.jpeg"/><Relationship Id="rId7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jpeg"/><Relationship Id="rId10" Type="http://schemas.openxmlformats.org/officeDocument/2006/relationships/image" Target="../media/image8.png"/><Relationship Id="rId4" Type="http://schemas.openxmlformats.org/officeDocument/2006/relationships/image" Target="../media/image17.jpeg"/><Relationship Id="rId9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3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47487" y="3701866"/>
            <a:ext cx="6634477" cy="50797"/>
            <a:chOff x="0" y="0"/>
            <a:chExt cx="8845969" cy="677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845931" cy="67691"/>
            </a:xfrm>
            <a:custGeom>
              <a:avLst/>
              <a:gdLst/>
              <a:ahLst/>
              <a:cxnLst/>
              <a:rect l="l" t="t" r="r" b="b"/>
              <a:pathLst>
                <a:path w="8845931" h="67691">
                  <a:moveTo>
                    <a:pt x="0" y="0"/>
                  </a:moveTo>
                  <a:lnTo>
                    <a:pt x="8845931" y="67691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t="-2496308" b="-2496364"/>
              </a:stretch>
            </a:blipFill>
            <a:ln w="50800" cap="sq">
              <a:solidFill>
                <a:srgbClr val="D4A017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0" y="9144000"/>
            <a:ext cx="18288000" cy="1143000"/>
            <a:chOff x="0" y="0"/>
            <a:chExt cx="24384000" cy="1524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524000"/>
            </a:xfrm>
            <a:custGeom>
              <a:avLst/>
              <a:gdLst/>
              <a:ahLst/>
              <a:cxnLst/>
              <a:rect l="l" t="t" r="r" b="b"/>
              <a:pathLst>
                <a:path w="24384000" h="1524000">
                  <a:moveTo>
                    <a:pt x="0" y="0"/>
                  </a:moveTo>
                  <a:lnTo>
                    <a:pt x="24384000" y="0"/>
                  </a:lnTo>
                  <a:lnTo>
                    <a:pt x="24384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6916558" y="4590841"/>
            <a:ext cx="2333494" cy="2350590"/>
          </a:xfrm>
          <a:custGeom>
            <a:avLst/>
            <a:gdLst/>
            <a:ahLst/>
            <a:cxnLst/>
            <a:rect l="l" t="t" r="r" b="b"/>
            <a:pathLst>
              <a:path w="2333494" h="2350590">
                <a:moveTo>
                  <a:pt x="0" y="0"/>
                </a:moveTo>
                <a:lnTo>
                  <a:pt x="2333494" y="0"/>
                </a:lnTo>
                <a:lnTo>
                  <a:pt x="2333494" y="2350589"/>
                </a:lnTo>
                <a:lnTo>
                  <a:pt x="0" y="23505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221691" y="4590841"/>
            <a:ext cx="2394119" cy="2350590"/>
          </a:xfrm>
          <a:custGeom>
            <a:avLst/>
            <a:gdLst/>
            <a:ahLst/>
            <a:cxnLst/>
            <a:rect l="l" t="t" r="r" b="b"/>
            <a:pathLst>
              <a:path w="2394119" h="2350590">
                <a:moveTo>
                  <a:pt x="0" y="0"/>
                </a:moveTo>
                <a:lnTo>
                  <a:pt x="2394119" y="0"/>
                </a:lnTo>
                <a:lnTo>
                  <a:pt x="2394119" y="2350589"/>
                </a:lnTo>
                <a:lnTo>
                  <a:pt x="0" y="23505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74628" y="4590841"/>
            <a:ext cx="2346316" cy="2350590"/>
          </a:xfrm>
          <a:custGeom>
            <a:avLst/>
            <a:gdLst/>
            <a:ahLst/>
            <a:cxnLst/>
            <a:rect l="l" t="t" r="r" b="b"/>
            <a:pathLst>
              <a:path w="2346316" h="2350590">
                <a:moveTo>
                  <a:pt x="0" y="0"/>
                </a:moveTo>
                <a:lnTo>
                  <a:pt x="2346316" y="0"/>
                </a:lnTo>
                <a:lnTo>
                  <a:pt x="2346316" y="2350589"/>
                </a:lnTo>
                <a:lnTo>
                  <a:pt x="0" y="23505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0" y="1585454"/>
            <a:ext cx="13003239" cy="2934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 dirty="0">
                <a:solidFill>
                  <a:srgbClr val="E8D5A3"/>
                </a:solidFill>
                <a:latin typeface="Aptos" panose="020B0004020202020204" pitchFamily="34" charset="0"/>
                <a:ea typeface="Montserrat Bold"/>
                <a:cs typeface="Montserrat Bold"/>
                <a:sym typeface="Montserrat Bold"/>
              </a:rPr>
              <a:t>PIZZA COMPANY PERFORMANCE ANALYSIS</a:t>
            </a:r>
          </a:p>
          <a:p>
            <a:pPr algn="ctr">
              <a:lnSpc>
                <a:spcPts val="7840"/>
              </a:lnSpc>
            </a:pPr>
            <a:endParaRPr lang="en-US" sz="5600" b="1" dirty="0">
              <a:solidFill>
                <a:srgbClr val="E8D5A3"/>
              </a:solidFill>
              <a:latin typeface="Aptos" panose="020B0004020202020204" pitchFamily="34" charset="0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10781964" y="6658102"/>
            <a:ext cx="9223622" cy="1827954"/>
          </a:xfrm>
          <a:custGeom>
            <a:avLst/>
            <a:gdLst/>
            <a:ahLst/>
            <a:cxnLst/>
            <a:rect l="l" t="t" r="r" b="b"/>
            <a:pathLst>
              <a:path w="9223622" h="1827954">
                <a:moveTo>
                  <a:pt x="0" y="0"/>
                </a:moveTo>
                <a:lnTo>
                  <a:pt x="9223622" y="0"/>
                </a:lnTo>
                <a:lnTo>
                  <a:pt x="9223622" y="1827954"/>
                </a:lnTo>
                <a:lnTo>
                  <a:pt x="0" y="18279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0513548" y="91704"/>
            <a:ext cx="12960000" cy="8229600"/>
          </a:xfrm>
          <a:custGeom>
            <a:avLst/>
            <a:gdLst/>
            <a:ahLst/>
            <a:cxnLst/>
            <a:rect l="l" t="t" r="r" b="b"/>
            <a:pathLst>
              <a:path w="12960000" h="8229600">
                <a:moveTo>
                  <a:pt x="0" y="0"/>
                </a:moveTo>
                <a:lnTo>
                  <a:pt x="12960000" y="0"/>
                </a:lnTo>
                <a:lnTo>
                  <a:pt x="12960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541714" y="9490093"/>
            <a:ext cx="17204571" cy="339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spc="490">
                <a:solidFill>
                  <a:srgbClr val="E8D5A3"/>
                </a:solidFill>
                <a:latin typeface="Aptos" panose="020B0004020202020204" pitchFamily="34" charset="0"/>
                <a:ea typeface="Montserrat"/>
                <a:cs typeface="Montserrat"/>
                <a:sym typeface="Montserrat"/>
              </a:rPr>
              <a:t>PREPARED BY: SUKHADA KULKARNI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3644716"/>
            <a:ext cx="10540250" cy="1123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i="1" dirty="0">
                <a:solidFill>
                  <a:srgbClr val="E8D5A3"/>
                </a:solidFill>
                <a:latin typeface="Aptos" panose="020B0004020202020204" pitchFamily="34" charset="0"/>
                <a:ea typeface="Montserrat Italics"/>
                <a:cs typeface="Montserrat Italics"/>
                <a:sym typeface="Montserrat Italics"/>
              </a:rPr>
              <a:t>Leveraging SQL Analytics to Drive Business Growth</a:t>
            </a:r>
          </a:p>
          <a:p>
            <a:pPr algn="l">
              <a:lnSpc>
                <a:spcPts val="4480"/>
              </a:lnSpc>
            </a:pPr>
            <a:endParaRPr lang="en-US" sz="3200" i="1" dirty="0">
              <a:solidFill>
                <a:srgbClr val="E8D5A3"/>
              </a:solidFill>
              <a:latin typeface="Aptos" panose="020B0004020202020204" pitchFamily="34" charset="0"/>
              <a:ea typeface="Montserrat Italics"/>
              <a:cs typeface="Montserrat Italics"/>
              <a:sym typeface="Montserrat Italic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574628" y="7312905"/>
            <a:ext cx="8806070" cy="613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1" i="1" dirty="0">
                <a:solidFill>
                  <a:srgbClr val="F0C040"/>
                </a:solidFill>
                <a:latin typeface="Aptos" panose="020B0004020202020204" pitchFamily="34" charset="0"/>
                <a:ea typeface="Montserrat Bold Italics"/>
                <a:cs typeface="Montserrat Bold Italics"/>
                <a:sym typeface="Montserrat Bold Italics"/>
              </a:rPr>
              <a:t>Where Every Slice Tells a Story</a:t>
            </a:r>
          </a:p>
        </p:txBody>
      </p:sp>
      <p:sp>
        <p:nvSpPr>
          <p:cNvPr id="15" name="Freeform 15"/>
          <p:cNvSpPr/>
          <p:nvPr/>
        </p:nvSpPr>
        <p:spPr>
          <a:xfrm rot="-2919272">
            <a:off x="16831786" y="7757673"/>
            <a:ext cx="2543988" cy="1555013"/>
          </a:xfrm>
          <a:custGeom>
            <a:avLst/>
            <a:gdLst/>
            <a:ahLst/>
            <a:cxnLst/>
            <a:rect l="l" t="t" r="r" b="b"/>
            <a:pathLst>
              <a:path w="2543988" h="1555013">
                <a:moveTo>
                  <a:pt x="0" y="0"/>
                </a:moveTo>
                <a:lnTo>
                  <a:pt x="2543988" y="0"/>
                </a:lnTo>
                <a:lnTo>
                  <a:pt x="2543988" y="1555013"/>
                </a:lnTo>
                <a:lnTo>
                  <a:pt x="0" y="155501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-2919272">
            <a:off x="-998298" y="4443712"/>
            <a:ext cx="2543988" cy="1555013"/>
          </a:xfrm>
          <a:custGeom>
            <a:avLst/>
            <a:gdLst/>
            <a:ahLst/>
            <a:cxnLst/>
            <a:rect l="l" t="t" r="r" b="b"/>
            <a:pathLst>
              <a:path w="2543988" h="1555013">
                <a:moveTo>
                  <a:pt x="0" y="0"/>
                </a:moveTo>
                <a:lnTo>
                  <a:pt x="2543988" y="0"/>
                </a:lnTo>
                <a:lnTo>
                  <a:pt x="2543988" y="1555013"/>
                </a:lnTo>
                <a:lnTo>
                  <a:pt x="0" y="155501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-1096398">
            <a:off x="15413678" y="125626"/>
            <a:ext cx="2081635" cy="1272400"/>
          </a:xfrm>
          <a:custGeom>
            <a:avLst/>
            <a:gdLst/>
            <a:ahLst/>
            <a:cxnLst/>
            <a:rect l="l" t="t" r="r" b="b"/>
            <a:pathLst>
              <a:path w="2081635" h="1272400">
                <a:moveTo>
                  <a:pt x="0" y="0"/>
                </a:moveTo>
                <a:lnTo>
                  <a:pt x="2081635" y="0"/>
                </a:lnTo>
                <a:lnTo>
                  <a:pt x="2081635" y="1272400"/>
                </a:lnTo>
                <a:lnTo>
                  <a:pt x="0" y="12724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9737032" y="7923764"/>
            <a:ext cx="875240" cy="875240"/>
            <a:chOff x="0" y="0"/>
            <a:chExt cx="1097280" cy="109728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1097280" cy="1106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31800" lvl="1" indent="-2159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 b="1">
                  <a:solidFill>
                    <a:srgbClr val="FFFFFF"/>
                  </a:solidFill>
                  <a:latin typeface="Aptos Display" panose="020B0004020202020204" pitchFamily="34" charset="0"/>
                  <a:ea typeface="Open Sans Bold"/>
                  <a:cs typeface="Open Sans Bold"/>
                  <a:sym typeface="Open Sans Bold"/>
                </a:rPr>
                <a:t>02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0" y="0"/>
            <a:ext cx="7675421" cy="10287000"/>
            <a:chOff x="0" y="0"/>
            <a:chExt cx="10233895" cy="13716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233895" cy="13716000"/>
            </a:xfrm>
            <a:custGeom>
              <a:avLst/>
              <a:gdLst/>
              <a:ahLst/>
              <a:cxnLst/>
              <a:rect l="l" t="t" r="r" b="b"/>
              <a:pathLst>
                <a:path w="10233895" h="13716000">
                  <a:moveTo>
                    <a:pt x="0" y="0"/>
                  </a:moveTo>
                  <a:lnTo>
                    <a:pt x="10233895" y="0"/>
                  </a:lnTo>
                  <a:lnTo>
                    <a:pt x="10233895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sp>
        <p:nvSpPr>
          <p:cNvPr id="17" name="Freeform 17"/>
          <p:cNvSpPr/>
          <p:nvPr/>
        </p:nvSpPr>
        <p:spPr>
          <a:xfrm>
            <a:off x="-2608352" y="8782050"/>
            <a:ext cx="9223622" cy="1827954"/>
          </a:xfrm>
          <a:custGeom>
            <a:avLst/>
            <a:gdLst/>
            <a:ahLst/>
            <a:cxnLst/>
            <a:rect l="l" t="t" r="r" b="b"/>
            <a:pathLst>
              <a:path w="9223622" h="1827954">
                <a:moveTo>
                  <a:pt x="0" y="0"/>
                </a:moveTo>
                <a:lnTo>
                  <a:pt x="9223621" y="0"/>
                </a:lnTo>
                <a:lnTo>
                  <a:pt x="9223621" y="1827954"/>
                </a:lnTo>
                <a:lnTo>
                  <a:pt x="0" y="18279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1310804">
            <a:off x="7001953" y="9118201"/>
            <a:ext cx="1944978" cy="1188868"/>
          </a:xfrm>
          <a:custGeom>
            <a:avLst/>
            <a:gdLst/>
            <a:ahLst/>
            <a:cxnLst/>
            <a:rect l="l" t="t" r="r" b="b"/>
            <a:pathLst>
              <a:path w="1944978" h="1188868">
                <a:moveTo>
                  <a:pt x="0" y="0"/>
                </a:moveTo>
                <a:lnTo>
                  <a:pt x="1944978" y="0"/>
                </a:lnTo>
                <a:lnTo>
                  <a:pt x="1944978" y="1188867"/>
                </a:lnTo>
                <a:lnTo>
                  <a:pt x="0" y="11888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-3150010">
            <a:off x="17175402" y="1914525"/>
            <a:ext cx="1828800" cy="1117854"/>
          </a:xfrm>
          <a:custGeom>
            <a:avLst/>
            <a:gdLst/>
            <a:ahLst/>
            <a:cxnLst/>
            <a:rect l="l" t="t" r="r" b="b"/>
            <a:pathLst>
              <a:path w="1828800" h="1117854">
                <a:moveTo>
                  <a:pt x="0" y="0"/>
                </a:moveTo>
                <a:lnTo>
                  <a:pt x="1828800" y="0"/>
                </a:lnTo>
                <a:lnTo>
                  <a:pt x="1828800" y="1117854"/>
                </a:lnTo>
                <a:lnTo>
                  <a:pt x="0" y="11178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-1981688" y="5862531"/>
            <a:ext cx="7766264" cy="3911373"/>
          </a:xfrm>
          <a:custGeom>
            <a:avLst/>
            <a:gdLst/>
            <a:ahLst/>
            <a:cxnLst/>
            <a:rect l="l" t="t" r="r" b="b"/>
            <a:pathLst>
              <a:path w="7766264" h="3911373">
                <a:moveTo>
                  <a:pt x="0" y="0"/>
                </a:moveTo>
                <a:lnTo>
                  <a:pt x="7766264" y="0"/>
                </a:lnTo>
                <a:lnTo>
                  <a:pt x="7766264" y="3911372"/>
                </a:lnTo>
                <a:lnTo>
                  <a:pt x="0" y="39113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028700" y="1128104"/>
            <a:ext cx="4994126" cy="1790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7200" b="1" dirty="0">
                <a:solidFill>
                  <a:srgbClr val="E8D5A3"/>
                </a:solidFill>
                <a:latin typeface="Aptos Display" panose="020B0004020202020204" pitchFamily="34" charset="0"/>
                <a:ea typeface="Montserrat Heavy"/>
                <a:cs typeface="Montserrat Heavy"/>
                <a:sym typeface="Montserrat Heavy"/>
              </a:rPr>
              <a:t>WHAT'S</a:t>
            </a:r>
          </a:p>
          <a:p>
            <a:pPr algn="l">
              <a:lnSpc>
                <a:spcPts val="6839"/>
              </a:lnSpc>
            </a:pPr>
            <a:r>
              <a:rPr lang="en-US" sz="7200" b="1" dirty="0">
                <a:solidFill>
                  <a:srgbClr val="E8D5A3"/>
                </a:solidFill>
                <a:latin typeface="Aptos Display" panose="020B0004020202020204" pitchFamily="34" charset="0"/>
                <a:ea typeface="Montserrat Heavy"/>
                <a:cs typeface="Montserrat Heavy"/>
                <a:sym typeface="Montserrat Heavy"/>
              </a:rPr>
              <a:t>INSIDE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8700" y="3615621"/>
            <a:ext cx="3123607" cy="976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i="1">
                <a:solidFill>
                  <a:srgbClr val="E8D5A3"/>
                </a:solidFill>
                <a:latin typeface="Aptos Display" panose="020B0004020202020204" pitchFamily="34" charset="0"/>
                <a:ea typeface="Open Sans Italics"/>
                <a:cs typeface="Open Sans Italics"/>
                <a:sym typeface="Open Sans Italics"/>
              </a:rPr>
              <a:t>Our Story</a:t>
            </a:r>
          </a:p>
          <a:p>
            <a:pPr algn="l">
              <a:lnSpc>
                <a:spcPts val="3919"/>
              </a:lnSpc>
            </a:pPr>
            <a:r>
              <a:rPr lang="en-US" sz="2799" i="1">
                <a:solidFill>
                  <a:srgbClr val="E8D5A3"/>
                </a:solidFill>
                <a:latin typeface="Aptos Display" panose="020B0004020202020204" pitchFamily="34" charset="0"/>
                <a:ea typeface="Open Sans Italics"/>
                <a:cs typeface="Open Sans Italics"/>
                <a:sym typeface="Open Sans Italics"/>
              </a:rPr>
              <a:t>Presentation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098293" y="1407756"/>
            <a:ext cx="6033109" cy="486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8846" lvl="1" indent="-344423" algn="l">
              <a:lnSpc>
                <a:spcPts val="3828"/>
              </a:lnSpc>
              <a:buFont typeface="Arial"/>
              <a:buChar char="•"/>
            </a:pPr>
            <a:r>
              <a:rPr lang="en-US" sz="3190" b="1">
                <a:solidFill>
                  <a:srgbClr val="C0392B"/>
                </a:solidFill>
                <a:latin typeface="Aptos Display" panose="020B0004020202020204" pitchFamily="34" charset="0"/>
                <a:ea typeface="Montserrat Bold"/>
                <a:cs typeface="Montserrat Bold"/>
                <a:sym typeface="Montserrat Bold"/>
              </a:rPr>
              <a:t>Executive KPI Dashboard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098293" y="2171428"/>
            <a:ext cx="6570415" cy="486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8846" lvl="1" indent="-344423">
              <a:lnSpc>
                <a:spcPts val="3828"/>
              </a:lnSpc>
              <a:buFont typeface="Arial"/>
              <a:buChar char="•"/>
            </a:pPr>
            <a:r>
              <a:rPr lang="en-US" sz="3190" b="1" dirty="0">
                <a:solidFill>
                  <a:srgbClr val="C0392B"/>
                </a:solidFill>
                <a:latin typeface="Aptos Display" panose="020B0004020202020204" pitchFamily="34" charset="0"/>
                <a:ea typeface="Montserrat Bold"/>
                <a:cs typeface="Montserrat Bold"/>
                <a:sym typeface="Montserrat Bold"/>
              </a:rPr>
              <a:t>Revenue Leaders &amp; Laggards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098293" y="2931140"/>
            <a:ext cx="6837014" cy="486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8846" lvl="1" indent="-344423" algn="l">
              <a:lnSpc>
                <a:spcPts val="3828"/>
              </a:lnSpc>
              <a:buFont typeface="Arial"/>
              <a:buChar char="•"/>
            </a:pPr>
            <a:r>
              <a:rPr lang="en-US" sz="3190" b="1" dirty="0">
                <a:solidFill>
                  <a:srgbClr val="C0392B"/>
                </a:solidFill>
                <a:latin typeface="Aptos Display" panose="020B0004020202020204" pitchFamily="34" charset="0"/>
                <a:ea typeface="Montserrat Bold"/>
                <a:cs typeface="Montserrat Bold"/>
                <a:sym typeface="Montserrat Bold"/>
              </a:rPr>
              <a:t>Revenue Performance Drivers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098293" y="5230043"/>
            <a:ext cx="6740162" cy="486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8846" lvl="1" indent="-344423" algn="l">
              <a:lnSpc>
                <a:spcPts val="3828"/>
              </a:lnSpc>
              <a:buFont typeface="Arial"/>
              <a:buChar char="•"/>
            </a:pPr>
            <a:r>
              <a:rPr lang="en-US" sz="3190" b="1" dirty="0">
                <a:solidFill>
                  <a:srgbClr val="C0392B"/>
                </a:solidFill>
                <a:latin typeface="Aptos Display" panose="020B0004020202020204" pitchFamily="34" charset="0"/>
                <a:ea typeface="Montserrat Bold"/>
                <a:cs typeface="Montserrat Bold"/>
                <a:sym typeface="Montserrat Bold"/>
              </a:rPr>
              <a:t>Customer Purchase Pattern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098293" y="4450563"/>
            <a:ext cx="7516119" cy="486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8846" lvl="1" indent="-344423" algn="l">
              <a:lnSpc>
                <a:spcPts val="3828"/>
              </a:lnSpc>
              <a:buFont typeface="Arial"/>
              <a:buChar char="•"/>
            </a:pPr>
            <a:r>
              <a:rPr lang="en-US" sz="3190" b="1" dirty="0">
                <a:solidFill>
                  <a:srgbClr val="C0392B"/>
                </a:solidFill>
                <a:latin typeface="Aptos Display" panose="020B0004020202020204" pitchFamily="34" charset="0"/>
                <a:ea typeface="Montserrat Bold"/>
                <a:cs typeface="Montserrat Bold"/>
                <a:sym typeface="Montserrat Bold"/>
              </a:rPr>
              <a:t>Customer Ordering Pattern by Hour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098293" y="3690851"/>
            <a:ext cx="7048971" cy="486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8846" lvl="1" indent="-344423" algn="l">
              <a:lnSpc>
                <a:spcPts val="3828"/>
              </a:lnSpc>
              <a:buFont typeface="Arial"/>
              <a:buChar char="•"/>
            </a:pPr>
            <a:r>
              <a:rPr lang="en-US" sz="3190" b="1" dirty="0">
                <a:solidFill>
                  <a:srgbClr val="C0392B"/>
                </a:solidFill>
                <a:latin typeface="Aptos Display" panose="020B0004020202020204" pitchFamily="34" charset="0"/>
                <a:ea typeface="Montserrat Bold"/>
                <a:cs typeface="Montserrat Bold"/>
                <a:sym typeface="Montserrat Bold"/>
              </a:rPr>
              <a:t>Ingredient Demand Analysis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9730275" y="7796920"/>
            <a:ext cx="875240" cy="875240"/>
            <a:chOff x="0" y="0"/>
            <a:chExt cx="1097280" cy="109728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9525"/>
              <a:ext cx="1097280" cy="1106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31800" lvl="1" indent="-2159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 b="1">
                  <a:solidFill>
                    <a:srgbClr val="FFFFFF"/>
                  </a:solidFill>
                  <a:latin typeface="Aptos Display" panose="020B0004020202020204" pitchFamily="34" charset="0"/>
                  <a:ea typeface="Open Sans Bold"/>
                  <a:cs typeface="Open Sans Bold"/>
                  <a:sym typeface="Open Sans Bold"/>
                </a:rPr>
                <a:t>06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9098293" y="6070841"/>
            <a:ext cx="7685524" cy="486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8846" lvl="1" indent="-344423" algn="l">
              <a:lnSpc>
                <a:spcPts val="3828"/>
              </a:lnSpc>
              <a:buFont typeface="Arial"/>
              <a:buChar char="•"/>
            </a:pPr>
            <a:r>
              <a:rPr lang="en-US" sz="3190" b="1" dirty="0">
                <a:solidFill>
                  <a:srgbClr val="C0392B"/>
                </a:solidFill>
                <a:latin typeface="Aptos Display" panose="020B0004020202020204" pitchFamily="34" charset="0"/>
                <a:ea typeface="Montserrat Bold"/>
                <a:cs typeface="Montserrat Bold"/>
                <a:sym typeface="Montserrat Bold"/>
              </a:rPr>
              <a:t>Sales Trends and Business Risk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091448" y="6830552"/>
            <a:ext cx="6577260" cy="486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8846" lvl="1" indent="-344423" algn="l">
              <a:lnSpc>
                <a:spcPts val="3828"/>
              </a:lnSpc>
              <a:buFont typeface="Arial"/>
              <a:buChar char="•"/>
            </a:pPr>
            <a:r>
              <a:rPr lang="en-US" sz="3190" b="1">
                <a:solidFill>
                  <a:srgbClr val="C0392B"/>
                </a:solidFill>
                <a:latin typeface="Aptos Display" panose="020B0004020202020204" pitchFamily="34" charset="0"/>
                <a:ea typeface="Montserrat Bold"/>
                <a:cs typeface="Montserrat Bold"/>
                <a:sym typeface="Montserrat Bold"/>
              </a:rPr>
              <a:t>Strategic Reccomendations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098293" y="7610524"/>
            <a:ext cx="6033109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88846" lvl="1" indent="-344423">
              <a:lnSpc>
                <a:spcPts val="3828"/>
              </a:lnSpc>
              <a:buFont typeface="Arial"/>
              <a:buChar char="•"/>
            </a:pPr>
            <a:r>
              <a:rPr lang="en-US" sz="3190" b="1" dirty="0">
                <a:solidFill>
                  <a:srgbClr val="C0392B"/>
                </a:solidFill>
                <a:latin typeface="Aptos Display" panose="020B0004020202020204" pitchFamily="34" charset="0"/>
                <a:ea typeface="Montserrat Bold"/>
                <a:cs typeface="Montserrat Bold"/>
                <a:sym typeface="Montserrat Bold"/>
              </a:rPr>
              <a:t>Expected Business Impact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091448" y="8390495"/>
            <a:ext cx="6311002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8846" lvl="1" indent="-344423">
              <a:lnSpc>
                <a:spcPts val="3828"/>
              </a:lnSpc>
              <a:buFont typeface="Arial"/>
              <a:buChar char="•"/>
            </a:pPr>
            <a:r>
              <a:rPr lang="en-US" sz="3200" b="1" dirty="0">
                <a:solidFill>
                  <a:srgbClr val="C0392B"/>
                </a:solidFill>
                <a:latin typeface="Aptos Display" panose="020B0004020202020204" pitchFamily="34" charset="0"/>
                <a:ea typeface="Montserrat Bold"/>
                <a:cs typeface="Montserrat Bold"/>
                <a:sym typeface="Montserrat Bold"/>
              </a:rPr>
              <a:t>Executive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2011680"/>
            <a:chOff x="0" y="0"/>
            <a:chExt cx="24384000" cy="26822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682240"/>
            </a:xfrm>
            <a:custGeom>
              <a:avLst/>
              <a:gdLst/>
              <a:ahLst/>
              <a:cxnLst/>
              <a:rect l="l" t="t" r="r" b="b"/>
              <a:pathLst>
                <a:path w="24384000" h="2682240">
                  <a:moveTo>
                    <a:pt x="0" y="0"/>
                  </a:moveTo>
                  <a:lnTo>
                    <a:pt x="24384000" y="0"/>
                  </a:lnTo>
                  <a:lnTo>
                    <a:pt x="2438400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548640" y="2701209"/>
            <a:ext cx="5486400" cy="3291840"/>
            <a:chOff x="0" y="0"/>
            <a:chExt cx="7315200" cy="43891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315200" cy="4389120"/>
            </a:xfrm>
            <a:custGeom>
              <a:avLst/>
              <a:gdLst/>
              <a:ahLst/>
              <a:cxnLst/>
              <a:rect l="l" t="t" r="r" b="b"/>
              <a:pathLst>
                <a:path w="7315200" h="4389120">
                  <a:moveTo>
                    <a:pt x="0" y="0"/>
                  </a:moveTo>
                  <a:lnTo>
                    <a:pt x="7315200" y="0"/>
                  </a:lnTo>
                  <a:lnTo>
                    <a:pt x="7315200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548640" y="2701209"/>
            <a:ext cx="5486400" cy="585216"/>
            <a:chOff x="0" y="0"/>
            <a:chExt cx="7315200" cy="78028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315200" cy="780288"/>
            </a:xfrm>
            <a:custGeom>
              <a:avLst/>
              <a:gdLst/>
              <a:ahLst/>
              <a:cxnLst/>
              <a:rect l="l" t="t" r="r" b="b"/>
              <a:pathLst>
                <a:path w="7315200" h="780288">
                  <a:moveTo>
                    <a:pt x="0" y="0"/>
                  </a:moveTo>
                  <a:lnTo>
                    <a:pt x="7315200" y="0"/>
                  </a:lnTo>
                  <a:lnTo>
                    <a:pt x="731520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548640" y="2701209"/>
            <a:ext cx="5490210" cy="592116"/>
            <a:chOff x="0" y="0"/>
            <a:chExt cx="7315200" cy="7889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315200" cy="788940"/>
            </a:xfrm>
            <a:custGeom>
              <a:avLst/>
              <a:gdLst/>
              <a:ahLst/>
              <a:cxnLst/>
              <a:rect l="l" t="t" r="r" b="b"/>
              <a:pathLst>
                <a:path w="7315200" h="788940">
                  <a:moveTo>
                    <a:pt x="0" y="0"/>
                  </a:moveTo>
                  <a:lnTo>
                    <a:pt x="7315200" y="0"/>
                  </a:lnTo>
                  <a:lnTo>
                    <a:pt x="7315200" y="788940"/>
                  </a:lnTo>
                  <a:lnTo>
                    <a:pt x="0" y="7889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1217" b="-130120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9525"/>
              <a:ext cx="7315200" cy="7794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99"/>
                </a:lnSpc>
              </a:pPr>
              <a:r>
                <a:rPr lang="en-US" sz="2999" b="1">
                  <a:solidFill>
                    <a:srgbClr val="F5E6C8"/>
                  </a:solidFill>
                  <a:latin typeface="Aptos Display" panose="020B0004020202020204" pitchFamily="34" charset="0"/>
                  <a:ea typeface="Montserrat Bold"/>
                  <a:cs typeface="Montserrat Bold"/>
                  <a:sym typeface="Montserrat Bold"/>
                </a:rPr>
                <a:t>Total Revenue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48640" y="3752769"/>
            <a:ext cx="5486400" cy="1757069"/>
            <a:chOff x="0" y="0"/>
            <a:chExt cx="7315200" cy="234275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315200" cy="2342759"/>
            </a:xfrm>
            <a:custGeom>
              <a:avLst/>
              <a:gdLst/>
              <a:ahLst/>
              <a:cxnLst/>
              <a:rect l="l" t="t" r="r" b="b"/>
              <a:pathLst>
                <a:path w="7315200" h="2342759">
                  <a:moveTo>
                    <a:pt x="0" y="0"/>
                  </a:moveTo>
                  <a:lnTo>
                    <a:pt x="7315200" y="0"/>
                  </a:lnTo>
                  <a:lnTo>
                    <a:pt x="7315200" y="2342759"/>
                  </a:lnTo>
                  <a:lnTo>
                    <a:pt x="0" y="23427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1065" b="19382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9525"/>
              <a:ext cx="7315200" cy="23332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0559"/>
                </a:lnSpc>
              </a:pPr>
              <a:r>
                <a:rPr lang="en-US" sz="8799" b="1" dirty="0">
                  <a:solidFill>
                    <a:srgbClr val="C0392B"/>
                  </a:solidFill>
                  <a:latin typeface="Aptos Display" panose="020B0004020202020204" pitchFamily="34" charset="0"/>
                  <a:ea typeface="Montserrat Bold"/>
                  <a:cs typeface="Montserrat Bold"/>
                  <a:sym typeface="Montserrat Bold"/>
                </a:rPr>
                <a:t>$817.9K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400800" y="2701209"/>
            <a:ext cx="5486400" cy="3291840"/>
            <a:chOff x="0" y="0"/>
            <a:chExt cx="7315200" cy="43891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315200" cy="4389120"/>
            </a:xfrm>
            <a:custGeom>
              <a:avLst/>
              <a:gdLst/>
              <a:ahLst/>
              <a:cxnLst/>
              <a:rect l="l" t="t" r="r" b="b"/>
              <a:pathLst>
                <a:path w="7315200" h="4389120">
                  <a:moveTo>
                    <a:pt x="0" y="0"/>
                  </a:moveTo>
                  <a:lnTo>
                    <a:pt x="7315200" y="0"/>
                  </a:lnTo>
                  <a:lnTo>
                    <a:pt x="7315200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6400800" y="2701209"/>
            <a:ext cx="5486400" cy="585216"/>
            <a:chOff x="0" y="0"/>
            <a:chExt cx="7315200" cy="78028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315200" cy="780288"/>
            </a:xfrm>
            <a:custGeom>
              <a:avLst/>
              <a:gdLst/>
              <a:ahLst/>
              <a:cxnLst/>
              <a:rect l="l" t="t" r="r" b="b"/>
              <a:pathLst>
                <a:path w="7315200" h="780288">
                  <a:moveTo>
                    <a:pt x="0" y="0"/>
                  </a:moveTo>
                  <a:lnTo>
                    <a:pt x="7315200" y="0"/>
                  </a:lnTo>
                  <a:lnTo>
                    <a:pt x="731520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6400800" y="2701209"/>
            <a:ext cx="5486400" cy="601556"/>
            <a:chOff x="0" y="0"/>
            <a:chExt cx="7315200" cy="80207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315200" cy="802075"/>
            </a:xfrm>
            <a:custGeom>
              <a:avLst/>
              <a:gdLst/>
              <a:ahLst/>
              <a:cxnLst/>
              <a:rect l="l" t="t" r="r" b="b"/>
              <a:pathLst>
                <a:path w="7315200" h="802075">
                  <a:moveTo>
                    <a:pt x="0" y="0"/>
                  </a:moveTo>
                  <a:lnTo>
                    <a:pt x="7315200" y="0"/>
                  </a:lnTo>
                  <a:lnTo>
                    <a:pt x="7315200" y="802075"/>
                  </a:lnTo>
                  <a:lnTo>
                    <a:pt x="0" y="80207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9068" b="-126352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7315200" cy="802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F5E6C8"/>
                  </a:solidFill>
                  <a:latin typeface="Aptos Display" panose="020B0004020202020204" pitchFamily="34" charset="0"/>
                  <a:ea typeface="Montserrat Bold"/>
                  <a:cs typeface="Montserrat Bold"/>
                  <a:sym typeface="Montserrat Bold"/>
                </a:rPr>
                <a:t>Total Orders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400800" y="3752769"/>
            <a:ext cx="5486400" cy="1757069"/>
            <a:chOff x="0" y="0"/>
            <a:chExt cx="7315200" cy="234275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315200" cy="2342759"/>
            </a:xfrm>
            <a:custGeom>
              <a:avLst/>
              <a:gdLst/>
              <a:ahLst/>
              <a:cxnLst/>
              <a:rect l="l" t="t" r="r" b="b"/>
              <a:pathLst>
                <a:path w="7315200" h="2342759">
                  <a:moveTo>
                    <a:pt x="0" y="0"/>
                  </a:moveTo>
                  <a:lnTo>
                    <a:pt x="7315200" y="0"/>
                  </a:lnTo>
                  <a:lnTo>
                    <a:pt x="7315200" y="2342759"/>
                  </a:lnTo>
                  <a:lnTo>
                    <a:pt x="0" y="23427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1065" b="19382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9525"/>
              <a:ext cx="7315200" cy="23332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0559"/>
                </a:lnSpc>
              </a:pPr>
              <a:r>
                <a:rPr lang="en-US" sz="8799" b="1">
                  <a:solidFill>
                    <a:srgbClr val="C0392B"/>
                  </a:solidFill>
                  <a:latin typeface="Aptos Display" panose="020B0004020202020204" pitchFamily="34" charset="0"/>
                  <a:ea typeface="Montserrat Bold"/>
                  <a:cs typeface="Montserrat Bold"/>
                  <a:sym typeface="Montserrat Bold"/>
                </a:rPr>
                <a:t>21.35K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2252960" y="2701209"/>
            <a:ext cx="5486400" cy="3291840"/>
            <a:chOff x="0" y="0"/>
            <a:chExt cx="7315200" cy="438912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315200" cy="4389120"/>
            </a:xfrm>
            <a:custGeom>
              <a:avLst/>
              <a:gdLst/>
              <a:ahLst/>
              <a:cxnLst/>
              <a:rect l="l" t="t" r="r" b="b"/>
              <a:pathLst>
                <a:path w="7315200" h="4389120">
                  <a:moveTo>
                    <a:pt x="0" y="0"/>
                  </a:moveTo>
                  <a:lnTo>
                    <a:pt x="7315200" y="0"/>
                  </a:lnTo>
                  <a:lnTo>
                    <a:pt x="7315200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12252960" y="2701209"/>
            <a:ext cx="5486400" cy="585216"/>
            <a:chOff x="0" y="0"/>
            <a:chExt cx="7315200" cy="78028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315200" cy="780288"/>
            </a:xfrm>
            <a:custGeom>
              <a:avLst/>
              <a:gdLst/>
              <a:ahLst/>
              <a:cxnLst/>
              <a:rect l="l" t="t" r="r" b="b"/>
              <a:pathLst>
                <a:path w="7315200" h="780288">
                  <a:moveTo>
                    <a:pt x="0" y="0"/>
                  </a:moveTo>
                  <a:lnTo>
                    <a:pt x="7315200" y="0"/>
                  </a:lnTo>
                  <a:lnTo>
                    <a:pt x="731520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12252960" y="2701209"/>
            <a:ext cx="5486400" cy="601556"/>
            <a:chOff x="0" y="0"/>
            <a:chExt cx="7315200" cy="802075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315200" cy="802075"/>
            </a:xfrm>
            <a:custGeom>
              <a:avLst/>
              <a:gdLst/>
              <a:ahLst/>
              <a:cxnLst/>
              <a:rect l="l" t="t" r="r" b="b"/>
              <a:pathLst>
                <a:path w="7315200" h="802075">
                  <a:moveTo>
                    <a:pt x="0" y="0"/>
                  </a:moveTo>
                  <a:lnTo>
                    <a:pt x="7315200" y="0"/>
                  </a:lnTo>
                  <a:lnTo>
                    <a:pt x="7315200" y="802075"/>
                  </a:lnTo>
                  <a:lnTo>
                    <a:pt x="0" y="80207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9068" b="-126352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0"/>
              <a:ext cx="7315200" cy="802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F5E6C8"/>
                  </a:solidFill>
                  <a:latin typeface="Aptos Display" panose="020B0004020202020204" pitchFamily="34" charset="0"/>
                  <a:ea typeface="Montserrat Bold"/>
                  <a:cs typeface="Montserrat Bold"/>
                  <a:sym typeface="Montserrat Bold"/>
                </a:rPr>
                <a:t>Pizzas Sold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2252960" y="3752769"/>
            <a:ext cx="5486400" cy="1757069"/>
            <a:chOff x="0" y="0"/>
            <a:chExt cx="7315200" cy="234275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7315200" cy="2342759"/>
            </a:xfrm>
            <a:custGeom>
              <a:avLst/>
              <a:gdLst/>
              <a:ahLst/>
              <a:cxnLst/>
              <a:rect l="l" t="t" r="r" b="b"/>
              <a:pathLst>
                <a:path w="7315200" h="2342759">
                  <a:moveTo>
                    <a:pt x="0" y="0"/>
                  </a:moveTo>
                  <a:lnTo>
                    <a:pt x="7315200" y="0"/>
                  </a:lnTo>
                  <a:lnTo>
                    <a:pt x="7315200" y="2342759"/>
                  </a:lnTo>
                  <a:lnTo>
                    <a:pt x="0" y="23427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1065" b="19382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9525"/>
              <a:ext cx="7315200" cy="23332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0559"/>
                </a:lnSpc>
              </a:pPr>
              <a:r>
                <a:rPr lang="en-US" sz="8799" b="1">
                  <a:solidFill>
                    <a:srgbClr val="C0392B"/>
                  </a:solidFill>
                  <a:latin typeface="Aptos Display" panose="020B0004020202020204" pitchFamily="34" charset="0"/>
                  <a:ea typeface="Montserrat Bold"/>
                  <a:cs typeface="Montserrat Bold"/>
                  <a:sym typeface="Montserrat Bold"/>
                </a:rPr>
                <a:t>49.6K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48640" y="6450249"/>
            <a:ext cx="5486400" cy="3291840"/>
            <a:chOff x="0" y="0"/>
            <a:chExt cx="7315200" cy="438912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7315200" cy="4389120"/>
            </a:xfrm>
            <a:custGeom>
              <a:avLst/>
              <a:gdLst/>
              <a:ahLst/>
              <a:cxnLst/>
              <a:rect l="l" t="t" r="r" b="b"/>
              <a:pathLst>
                <a:path w="7315200" h="4389120">
                  <a:moveTo>
                    <a:pt x="0" y="0"/>
                  </a:moveTo>
                  <a:lnTo>
                    <a:pt x="7315200" y="0"/>
                  </a:lnTo>
                  <a:lnTo>
                    <a:pt x="7315200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548640" y="6450249"/>
            <a:ext cx="5486400" cy="585216"/>
            <a:chOff x="0" y="0"/>
            <a:chExt cx="7315200" cy="780288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7315200" cy="780288"/>
            </a:xfrm>
            <a:custGeom>
              <a:avLst/>
              <a:gdLst/>
              <a:ahLst/>
              <a:cxnLst/>
              <a:rect l="l" t="t" r="r" b="b"/>
              <a:pathLst>
                <a:path w="7315200" h="780288">
                  <a:moveTo>
                    <a:pt x="0" y="0"/>
                  </a:moveTo>
                  <a:lnTo>
                    <a:pt x="7315200" y="0"/>
                  </a:lnTo>
                  <a:lnTo>
                    <a:pt x="731520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548640" y="6450249"/>
            <a:ext cx="5486400" cy="601556"/>
            <a:chOff x="0" y="0"/>
            <a:chExt cx="7315200" cy="802075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7315200" cy="802075"/>
            </a:xfrm>
            <a:custGeom>
              <a:avLst/>
              <a:gdLst/>
              <a:ahLst/>
              <a:cxnLst/>
              <a:rect l="l" t="t" r="r" b="b"/>
              <a:pathLst>
                <a:path w="7315200" h="802075">
                  <a:moveTo>
                    <a:pt x="0" y="0"/>
                  </a:moveTo>
                  <a:lnTo>
                    <a:pt x="7315200" y="0"/>
                  </a:lnTo>
                  <a:lnTo>
                    <a:pt x="7315200" y="802075"/>
                  </a:lnTo>
                  <a:lnTo>
                    <a:pt x="0" y="80207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9068" b="-126352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0"/>
              <a:ext cx="7315200" cy="802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F5E6C8"/>
                  </a:solidFill>
                  <a:latin typeface="Aptos Display" panose="020B0004020202020204" pitchFamily="34" charset="0"/>
                  <a:ea typeface="Montserrat Bold"/>
                  <a:cs typeface="Montserrat Bold"/>
                  <a:sym typeface="Montserrat Bold"/>
                </a:rPr>
                <a:t>Average Order Size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48640" y="7501809"/>
            <a:ext cx="5486400" cy="1757069"/>
            <a:chOff x="0" y="0"/>
            <a:chExt cx="7315200" cy="234275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7315200" cy="2342759"/>
            </a:xfrm>
            <a:custGeom>
              <a:avLst/>
              <a:gdLst/>
              <a:ahLst/>
              <a:cxnLst/>
              <a:rect l="l" t="t" r="r" b="b"/>
              <a:pathLst>
                <a:path w="7315200" h="2342759">
                  <a:moveTo>
                    <a:pt x="0" y="0"/>
                  </a:moveTo>
                  <a:lnTo>
                    <a:pt x="7315200" y="0"/>
                  </a:lnTo>
                  <a:lnTo>
                    <a:pt x="7315200" y="2342759"/>
                  </a:lnTo>
                  <a:lnTo>
                    <a:pt x="0" y="23427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1065" b="19382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9525"/>
              <a:ext cx="7315200" cy="23332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0559"/>
                </a:lnSpc>
              </a:pPr>
              <a:r>
                <a:rPr lang="en-US" sz="8799" b="1">
                  <a:solidFill>
                    <a:srgbClr val="C0392B"/>
                  </a:solidFill>
                  <a:latin typeface="Aptos Display" panose="020B0004020202020204" pitchFamily="34" charset="0"/>
                  <a:ea typeface="Montserrat Bold"/>
                  <a:cs typeface="Montserrat Bold"/>
                  <a:sym typeface="Montserrat Bold"/>
                </a:rPr>
                <a:t>2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400800" y="6450249"/>
            <a:ext cx="5486400" cy="3291840"/>
            <a:chOff x="0" y="0"/>
            <a:chExt cx="7315200" cy="438912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7315200" cy="4389120"/>
            </a:xfrm>
            <a:custGeom>
              <a:avLst/>
              <a:gdLst/>
              <a:ahLst/>
              <a:cxnLst/>
              <a:rect l="l" t="t" r="r" b="b"/>
              <a:pathLst>
                <a:path w="7315200" h="4389120">
                  <a:moveTo>
                    <a:pt x="0" y="0"/>
                  </a:moveTo>
                  <a:lnTo>
                    <a:pt x="7315200" y="0"/>
                  </a:lnTo>
                  <a:lnTo>
                    <a:pt x="7315200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6400800" y="6450249"/>
            <a:ext cx="5486400" cy="585216"/>
            <a:chOff x="0" y="0"/>
            <a:chExt cx="7315200" cy="780288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7315200" cy="780288"/>
            </a:xfrm>
            <a:custGeom>
              <a:avLst/>
              <a:gdLst/>
              <a:ahLst/>
              <a:cxnLst/>
              <a:rect l="l" t="t" r="r" b="b"/>
              <a:pathLst>
                <a:path w="7315200" h="780288">
                  <a:moveTo>
                    <a:pt x="0" y="0"/>
                  </a:moveTo>
                  <a:lnTo>
                    <a:pt x="7315200" y="0"/>
                  </a:lnTo>
                  <a:lnTo>
                    <a:pt x="731520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6400800" y="6450249"/>
            <a:ext cx="5486400" cy="601556"/>
            <a:chOff x="0" y="0"/>
            <a:chExt cx="7315200" cy="802075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7315200" cy="802075"/>
            </a:xfrm>
            <a:custGeom>
              <a:avLst/>
              <a:gdLst/>
              <a:ahLst/>
              <a:cxnLst/>
              <a:rect l="l" t="t" r="r" b="b"/>
              <a:pathLst>
                <a:path w="7315200" h="802075">
                  <a:moveTo>
                    <a:pt x="0" y="0"/>
                  </a:moveTo>
                  <a:lnTo>
                    <a:pt x="7315200" y="0"/>
                  </a:lnTo>
                  <a:lnTo>
                    <a:pt x="7315200" y="802075"/>
                  </a:lnTo>
                  <a:lnTo>
                    <a:pt x="0" y="80207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9068" b="-126352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0"/>
              <a:ext cx="7315200" cy="802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F5E6C8"/>
                  </a:solidFill>
                  <a:latin typeface="Aptos Display" panose="020B0004020202020204" pitchFamily="34" charset="0"/>
                  <a:ea typeface="Montserrat Bold"/>
                  <a:cs typeface="Montserrat Bold"/>
                  <a:sym typeface="Montserrat Bold"/>
                </a:rPr>
                <a:t>Peak Hours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400800" y="7501809"/>
            <a:ext cx="5486400" cy="1757069"/>
            <a:chOff x="0" y="0"/>
            <a:chExt cx="7315200" cy="2342759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7315200" cy="2342759"/>
            </a:xfrm>
            <a:custGeom>
              <a:avLst/>
              <a:gdLst/>
              <a:ahLst/>
              <a:cxnLst/>
              <a:rect l="l" t="t" r="r" b="b"/>
              <a:pathLst>
                <a:path w="7315200" h="2342759">
                  <a:moveTo>
                    <a:pt x="0" y="0"/>
                  </a:moveTo>
                  <a:lnTo>
                    <a:pt x="7315200" y="0"/>
                  </a:lnTo>
                  <a:lnTo>
                    <a:pt x="7315200" y="2342759"/>
                  </a:lnTo>
                  <a:lnTo>
                    <a:pt x="0" y="23427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1065" b="19382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9525"/>
              <a:ext cx="7315200" cy="23332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0559"/>
                </a:lnSpc>
              </a:pPr>
              <a:r>
                <a:rPr lang="en-US" sz="8799" b="1">
                  <a:solidFill>
                    <a:srgbClr val="C0392B"/>
                  </a:solidFill>
                  <a:latin typeface="Aptos Display" panose="020B0004020202020204" pitchFamily="34" charset="0"/>
                  <a:ea typeface="Montserrat Bold"/>
                  <a:cs typeface="Montserrat Bold"/>
                  <a:sym typeface="Montserrat Bold"/>
                </a:rPr>
                <a:t>12 PM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2252960" y="6450249"/>
            <a:ext cx="5486400" cy="3291840"/>
            <a:chOff x="0" y="0"/>
            <a:chExt cx="7315200" cy="438912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7315200" cy="4389120"/>
            </a:xfrm>
            <a:custGeom>
              <a:avLst/>
              <a:gdLst/>
              <a:ahLst/>
              <a:cxnLst/>
              <a:rect l="l" t="t" r="r" b="b"/>
              <a:pathLst>
                <a:path w="7315200" h="4389120">
                  <a:moveTo>
                    <a:pt x="0" y="0"/>
                  </a:moveTo>
                  <a:lnTo>
                    <a:pt x="7315200" y="0"/>
                  </a:lnTo>
                  <a:lnTo>
                    <a:pt x="7315200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6" name="Group 56"/>
          <p:cNvGrpSpPr/>
          <p:nvPr/>
        </p:nvGrpSpPr>
        <p:grpSpPr>
          <a:xfrm>
            <a:off x="12252960" y="6450249"/>
            <a:ext cx="5486400" cy="585216"/>
            <a:chOff x="0" y="0"/>
            <a:chExt cx="7315200" cy="780288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7315200" cy="780288"/>
            </a:xfrm>
            <a:custGeom>
              <a:avLst/>
              <a:gdLst/>
              <a:ahLst/>
              <a:cxnLst/>
              <a:rect l="l" t="t" r="r" b="b"/>
              <a:pathLst>
                <a:path w="7315200" h="780288">
                  <a:moveTo>
                    <a:pt x="0" y="0"/>
                  </a:moveTo>
                  <a:lnTo>
                    <a:pt x="7315200" y="0"/>
                  </a:lnTo>
                  <a:lnTo>
                    <a:pt x="731520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id="58" name="Group 58"/>
          <p:cNvGrpSpPr/>
          <p:nvPr/>
        </p:nvGrpSpPr>
        <p:grpSpPr>
          <a:xfrm>
            <a:off x="12252960" y="6450249"/>
            <a:ext cx="5486400" cy="601556"/>
            <a:chOff x="0" y="0"/>
            <a:chExt cx="7315200" cy="802075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7315200" cy="802075"/>
            </a:xfrm>
            <a:custGeom>
              <a:avLst/>
              <a:gdLst/>
              <a:ahLst/>
              <a:cxnLst/>
              <a:rect l="l" t="t" r="r" b="b"/>
              <a:pathLst>
                <a:path w="7315200" h="802075">
                  <a:moveTo>
                    <a:pt x="0" y="0"/>
                  </a:moveTo>
                  <a:lnTo>
                    <a:pt x="7315200" y="0"/>
                  </a:lnTo>
                  <a:lnTo>
                    <a:pt x="7315200" y="802075"/>
                  </a:lnTo>
                  <a:lnTo>
                    <a:pt x="0" y="80207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9068" b="-126352"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0" y="0"/>
              <a:ext cx="7315200" cy="802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F5E6C8"/>
                  </a:solidFill>
                  <a:latin typeface="Aptos Display" panose="020B0004020202020204" pitchFamily="34" charset="0"/>
                  <a:ea typeface="Montserrat Bold"/>
                  <a:cs typeface="Montserrat Bold"/>
                  <a:sym typeface="Montserrat Bold"/>
                </a:rPr>
                <a:t>         Best-Selling Size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2252960" y="7501809"/>
            <a:ext cx="5486400" cy="1757069"/>
            <a:chOff x="0" y="0"/>
            <a:chExt cx="7315200" cy="2342759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7315200" cy="2342759"/>
            </a:xfrm>
            <a:custGeom>
              <a:avLst/>
              <a:gdLst/>
              <a:ahLst/>
              <a:cxnLst/>
              <a:rect l="l" t="t" r="r" b="b"/>
              <a:pathLst>
                <a:path w="7315200" h="2342759">
                  <a:moveTo>
                    <a:pt x="0" y="0"/>
                  </a:moveTo>
                  <a:lnTo>
                    <a:pt x="7315200" y="0"/>
                  </a:lnTo>
                  <a:lnTo>
                    <a:pt x="7315200" y="2342759"/>
                  </a:lnTo>
                  <a:lnTo>
                    <a:pt x="0" y="23427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1065" b="19382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9525"/>
              <a:ext cx="7315200" cy="23332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0559"/>
                </a:lnSpc>
              </a:pPr>
              <a:r>
                <a:rPr lang="en-US" sz="8799" b="1">
                  <a:solidFill>
                    <a:srgbClr val="C0392B"/>
                  </a:solidFill>
                  <a:latin typeface="Aptos Display" panose="020B0004020202020204" pitchFamily="34" charset="0"/>
                  <a:ea typeface="Montserrat Bold"/>
                  <a:cs typeface="Montserrat Bold"/>
                  <a:sym typeface="Montserrat Bold"/>
                </a:rPr>
                <a:t>Large</a:t>
              </a:r>
            </a:p>
          </p:txBody>
        </p:sp>
      </p:grpSp>
      <p:sp>
        <p:nvSpPr>
          <p:cNvPr id="64" name="Freeform 64"/>
          <p:cNvSpPr/>
          <p:nvPr/>
        </p:nvSpPr>
        <p:spPr>
          <a:xfrm>
            <a:off x="4869237" y="5172484"/>
            <a:ext cx="2473028" cy="1570373"/>
          </a:xfrm>
          <a:custGeom>
            <a:avLst/>
            <a:gdLst/>
            <a:ahLst/>
            <a:cxnLst/>
            <a:rect l="l" t="t" r="r" b="b"/>
            <a:pathLst>
              <a:path w="2473028" h="1570373">
                <a:moveTo>
                  <a:pt x="0" y="0"/>
                </a:moveTo>
                <a:lnTo>
                  <a:pt x="2473028" y="0"/>
                </a:lnTo>
                <a:lnTo>
                  <a:pt x="2473028" y="1570373"/>
                </a:lnTo>
                <a:lnTo>
                  <a:pt x="0" y="15703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5" name="Freeform 65"/>
          <p:cNvSpPr/>
          <p:nvPr/>
        </p:nvSpPr>
        <p:spPr>
          <a:xfrm>
            <a:off x="10602985" y="5071205"/>
            <a:ext cx="2987852" cy="1607216"/>
          </a:xfrm>
          <a:custGeom>
            <a:avLst/>
            <a:gdLst/>
            <a:ahLst/>
            <a:cxnLst/>
            <a:rect l="l" t="t" r="r" b="b"/>
            <a:pathLst>
              <a:path w="2987852" h="1607216">
                <a:moveTo>
                  <a:pt x="0" y="0"/>
                </a:moveTo>
                <a:lnTo>
                  <a:pt x="2987852" y="0"/>
                </a:lnTo>
                <a:lnTo>
                  <a:pt x="2987852" y="1607216"/>
                </a:lnTo>
                <a:lnTo>
                  <a:pt x="0" y="16072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6" name="TextBox 66"/>
          <p:cNvSpPr txBox="1"/>
          <p:nvPr/>
        </p:nvSpPr>
        <p:spPr>
          <a:xfrm>
            <a:off x="2327128" y="680421"/>
            <a:ext cx="14387198" cy="1692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59"/>
              </a:lnSpc>
            </a:pPr>
            <a:r>
              <a:rPr lang="en-US" sz="6799" b="1" dirty="0">
                <a:solidFill>
                  <a:srgbClr val="F5E6C8"/>
                </a:solidFill>
                <a:latin typeface="Aptos Display" panose="020B0004020202020204" pitchFamily="34" charset="0"/>
                <a:ea typeface="Montserrat Bold"/>
                <a:cs typeface="Montserrat Bold"/>
                <a:sym typeface="Montserrat Bold"/>
              </a:rPr>
              <a:t>Executive KPI Dashboard </a:t>
            </a:r>
          </a:p>
          <a:p>
            <a:pPr algn="l">
              <a:lnSpc>
                <a:spcPts val="6459"/>
              </a:lnSpc>
            </a:pPr>
            <a:endParaRPr lang="en-US" sz="6799" b="1" dirty="0">
              <a:solidFill>
                <a:srgbClr val="F5E6C8"/>
              </a:solidFill>
              <a:latin typeface="Aptos Display" panose="020B0004020202020204" pitchFamily="34" charset="0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67" name="Freeform 67"/>
          <p:cNvSpPr/>
          <p:nvPr/>
        </p:nvSpPr>
        <p:spPr>
          <a:xfrm rot="1310804">
            <a:off x="-365760" y="7873349"/>
            <a:ext cx="1828800" cy="1117854"/>
          </a:xfrm>
          <a:custGeom>
            <a:avLst/>
            <a:gdLst/>
            <a:ahLst/>
            <a:cxnLst/>
            <a:rect l="l" t="t" r="r" b="b"/>
            <a:pathLst>
              <a:path w="1828800" h="1117854">
                <a:moveTo>
                  <a:pt x="0" y="0"/>
                </a:moveTo>
                <a:lnTo>
                  <a:pt x="1828800" y="0"/>
                </a:lnTo>
                <a:lnTo>
                  <a:pt x="1828800" y="1117854"/>
                </a:lnTo>
                <a:lnTo>
                  <a:pt x="0" y="11178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 dirty="0">
              <a:latin typeface="Aptos Display" panose="020B0004020202020204" pitchFamily="34" charset="0"/>
            </a:endParaRPr>
          </a:p>
        </p:txBody>
      </p:sp>
      <p:sp>
        <p:nvSpPr>
          <p:cNvPr id="68" name="Freeform 68"/>
          <p:cNvSpPr/>
          <p:nvPr/>
        </p:nvSpPr>
        <p:spPr>
          <a:xfrm rot="-3150010">
            <a:off x="16764971" y="1722409"/>
            <a:ext cx="1828800" cy="1117854"/>
          </a:xfrm>
          <a:custGeom>
            <a:avLst/>
            <a:gdLst/>
            <a:ahLst/>
            <a:cxnLst/>
            <a:rect l="l" t="t" r="r" b="b"/>
            <a:pathLst>
              <a:path w="1828800" h="1117854">
                <a:moveTo>
                  <a:pt x="0" y="0"/>
                </a:moveTo>
                <a:lnTo>
                  <a:pt x="1828800" y="0"/>
                </a:lnTo>
                <a:lnTo>
                  <a:pt x="1828800" y="1117854"/>
                </a:lnTo>
                <a:lnTo>
                  <a:pt x="0" y="11178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9" name="TextBox 69"/>
          <p:cNvSpPr txBox="1"/>
          <p:nvPr/>
        </p:nvSpPr>
        <p:spPr>
          <a:xfrm>
            <a:off x="0" y="9754481"/>
            <a:ext cx="18288000" cy="39299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C0392B"/>
                </a:solidFill>
                <a:latin typeface="Aptos Display" panose="020B0004020202020204" pitchFamily="34" charset="0"/>
                <a:ea typeface="Montserrat Bold"/>
                <a:cs typeface="Montserrat Bold"/>
                <a:sym typeface="Montserrat Bold"/>
              </a:rPr>
              <a:t>Key Insight:</a:t>
            </a:r>
            <a:r>
              <a:rPr lang="en-US" sz="2400" dirty="0">
                <a:solidFill>
                  <a:srgbClr val="C0392B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 Large-sized pizzas generated the highest revenue ($817.9K) across 21.35K orders, making them the strongest revenue driver.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83337" y="1973323"/>
            <a:ext cx="7530163" cy="12697"/>
            <a:chOff x="0" y="0"/>
            <a:chExt cx="10040217" cy="169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40188" cy="16891"/>
            </a:xfrm>
            <a:custGeom>
              <a:avLst/>
              <a:gdLst/>
              <a:ahLst/>
              <a:cxnLst/>
              <a:rect l="l" t="t" r="r" b="b"/>
              <a:pathLst>
                <a:path w="10040188" h="16891">
                  <a:moveTo>
                    <a:pt x="0" y="0"/>
                  </a:moveTo>
                  <a:lnTo>
                    <a:pt x="10040188" y="16891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t="-15440243" r="-33743" b="-15440468"/>
              </a:stretch>
            </a:blipFill>
            <a:ln w="12700" cap="sq">
              <a:solidFill>
                <a:srgbClr val="E8D5A3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9283337" y="3472939"/>
            <a:ext cx="7530163" cy="12697"/>
            <a:chOff x="0" y="0"/>
            <a:chExt cx="10040217" cy="1692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040188" cy="16891"/>
            </a:xfrm>
            <a:custGeom>
              <a:avLst/>
              <a:gdLst/>
              <a:ahLst/>
              <a:cxnLst/>
              <a:rect l="l" t="t" r="r" b="b"/>
              <a:pathLst>
                <a:path w="10040188" h="16891">
                  <a:moveTo>
                    <a:pt x="0" y="0"/>
                  </a:moveTo>
                  <a:lnTo>
                    <a:pt x="10040188" y="16891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t="-15440243" r="-33743" b="-15440468"/>
              </a:stretch>
            </a:blipFill>
            <a:ln w="12700" cap="sq">
              <a:solidFill>
                <a:srgbClr val="E8D5A3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9283337" y="4972555"/>
            <a:ext cx="7530163" cy="12697"/>
            <a:chOff x="0" y="0"/>
            <a:chExt cx="10040217" cy="169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040188" cy="16891"/>
            </a:xfrm>
            <a:custGeom>
              <a:avLst/>
              <a:gdLst/>
              <a:ahLst/>
              <a:cxnLst/>
              <a:rect l="l" t="t" r="r" b="b"/>
              <a:pathLst>
                <a:path w="10040188" h="16891">
                  <a:moveTo>
                    <a:pt x="0" y="0"/>
                  </a:moveTo>
                  <a:lnTo>
                    <a:pt x="10040188" y="16891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t="-15440243" r="-33743" b="-15440468"/>
              </a:stretch>
            </a:blipFill>
            <a:ln w="12700" cap="sq">
              <a:solidFill>
                <a:srgbClr val="E8D5A3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9283337" y="6472171"/>
            <a:ext cx="7530163" cy="12697"/>
            <a:chOff x="0" y="0"/>
            <a:chExt cx="10040217" cy="1692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040188" cy="16891"/>
            </a:xfrm>
            <a:custGeom>
              <a:avLst/>
              <a:gdLst/>
              <a:ahLst/>
              <a:cxnLst/>
              <a:rect l="l" t="t" r="r" b="b"/>
              <a:pathLst>
                <a:path w="10040188" h="16891">
                  <a:moveTo>
                    <a:pt x="0" y="0"/>
                  </a:moveTo>
                  <a:lnTo>
                    <a:pt x="10040188" y="16891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t="-15440243" r="-33743" b="-15440468"/>
              </a:stretch>
            </a:blipFill>
            <a:ln w="12700" cap="sq">
              <a:solidFill>
                <a:srgbClr val="E8D5A3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9283337" y="7971787"/>
            <a:ext cx="7530163" cy="12697"/>
            <a:chOff x="0" y="0"/>
            <a:chExt cx="10040217" cy="1692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040188" cy="16891"/>
            </a:xfrm>
            <a:custGeom>
              <a:avLst/>
              <a:gdLst/>
              <a:ahLst/>
              <a:cxnLst/>
              <a:rect l="l" t="t" r="r" b="b"/>
              <a:pathLst>
                <a:path w="10040188" h="16891">
                  <a:moveTo>
                    <a:pt x="0" y="0"/>
                  </a:moveTo>
                  <a:lnTo>
                    <a:pt x="10040188" y="16891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t="-15440243" r="-33743" b="-15440468"/>
              </a:stretch>
            </a:blipFill>
            <a:ln w="12700" cap="sq">
              <a:solidFill>
                <a:srgbClr val="E8D5A3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8F0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6018834" y="6150472"/>
            <a:ext cx="8271526" cy="1125618"/>
            <a:chOff x="0" y="0"/>
            <a:chExt cx="11028701" cy="150082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028700" cy="1500824"/>
            </a:xfrm>
            <a:custGeom>
              <a:avLst/>
              <a:gdLst/>
              <a:ahLst/>
              <a:cxnLst/>
              <a:rect l="l" t="t" r="r" b="b"/>
              <a:pathLst>
                <a:path w="11028700" h="1500824">
                  <a:moveTo>
                    <a:pt x="0" y="0"/>
                  </a:moveTo>
                  <a:lnTo>
                    <a:pt x="11028700" y="0"/>
                  </a:lnTo>
                  <a:lnTo>
                    <a:pt x="11028700" y="1500824"/>
                  </a:lnTo>
                  <a:lnTo>
                    <a:pt x="0" y="1500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9210" r="-6126" b="-74701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11028701" cy="15008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39"/>
                </a:lnSpc>
              </a:pPr>
              <a:r>
                <a:rPr lang="en-US" sz="3199" b="1">
                  <a:solidFill>
                    <a:srgbClr val="1A1A1A"/>
                  </a:solidFill>
                  <a:latin typeface="Aptos Display" panose="020B0004020202020204" pitchFamily="34" charset="0"/>
                  <a:ea typeface="Montserrat Bold"/>
                  <a:cs typeface="Montserrat Bold"/>
                  <a:sym typeface="Montserrat Bold"/>
                </a:rPr>
                <a:t>Bottom 5 Revenue Contributors</a:t>
              </a:r>
            </a:p>
            <a:p>
              <a:pPr algn="l">
                <a:lnSpc>
                  <a:spcPts val="3839"/>
                </a:lnSpc>
              </a:pPr>
              <a:endParaRPr lang="en-US" sz="3199" b="1">
                <a:solidFill>
                  <a:srgbClr val="1A1A1A"/>
                </a:solidFill>
                <a:latin typeface="Aptos Display" panose="020B0004020202020204" pitchFamily="34" charset="0"/>
                <a:ea typeface="Montserrat Bold"/>
                <a:cs typeface="Montserrat Bold"/>
                <a:sym typeface="Montserrat Bold"/>
              </a:endParaRPr>
            </a:p>
          </p:txBody>
        </p:sp>
      </p:grpSp>
      <p:sp>
        <p:nvSpPr>
          <p:cNvPr id="17" name="Freeform 17"/>
          <p:cNvSpPr/>
          <p:nvPr/>
        </p:nvSpPr>
        <p:spPr>
          <a:xfrm rot="-3150010">
            <a:off x="17175402" y="1914525"/>
            <a:ext cx="1828800" cy="1117854"/>
          </a:xfrm>
          <a:custGeom>
            <a:avLst/>
            <a:gdLst/>
            <a:ahLst/>
            <a:cxnLst/>
            <a:rect l="l" t="t" r="r" b="b"/>
            <a:pathLst>
              <a:path w="1828800" h="1117854">
                <a:moveTo>
                  <a:pt x="0" y="0"/>
                </a:moveTo>
                <a:lnTo>
                  <a:pt x="1828800" y="0"/>
                </a:lnTo>
                <a:lnTo>
                  <a:pt x="1828800" y="1117854"/>
                </a:lnTo>
                <a:lnTo>
                  <a:pt x="0" y="11178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0" y="-38100"/>
            <a:ext cx="18288000" cy="2011680"/>
            <a:chOff x="0" y="0"/>
            <a:chExt cx="24384000" cy="268224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4384000" cy="2682240"/>
            </a:xfrm>
            <a:custGeom>
              <a:avLst/>
              <a:gdLst/>
              <a:ahLst/>
              <a:cxnLst/>
              <a:rect l="l" t="t" r="r" b="b"/>
              <a:pathLst>
                <a:path w="24384000" h="2682240">
                  <a:moveTo>
                    <a:pt x="0" y="0"/>
                  </a:moveTo>
                  <a:lnTo>
                    <a:pt x="24384000" y="0"/>
                  </a:lnTo>
                  <a:lnTo>
                    <a:pt x="2438400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sp>
        <p:nvSpPr>
          <p:cNvPr id="20" name="Freeform 20"/>
          <p:cNvSpPr/>
          <p:nvPr/>
        </p:nvSpPr>
        <p:spPr>
          <a:xfrm>
            <a:off x="2341535" y="3345350"/>
            <a:ext cx="11948825" cy="2280399"/>
          </a:xfrm>
          <a:custGeom>
            <a:avLst/>
            <a:gdLst/>
            <a:ahLst/>
            <a:cxnLst/>
            <a:rect l="l" t="t" r="r" b="b"/>
            <a:pathLst>
              <a:path w="11948825" h="2280399">
                <a:moveTo>
                  <a:pt x="0" y="0"/>
                </a:moveTo>
                <a:lnTo>
                  <a:pt x="11948824" y="0"/>
                </a:lnTo>
                <a:lnTo>
                  <a:pt x="11948824" y="2280399"/>
                </a:lnTo>
                <a:lnTo>
                  <a:pt x="0" y="22803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25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2341535" y="6951593"/>
            <a:ext cx="11948825" cy="2280399"/>
          </a:xfrm>
          <a:custGeom>
            <a:avLst/>
            <a:gdLst/>
            <a:ahLst/>
            <a:cxnLst/>
            <a:rect l="l" t="t" r="r" b="b"/>
            <a:pathLst>
              <a:path w="11948825" h="2280399">
                <a:moveTo>
                  <a:pt x="0" y="0"/>
                </a:moveTo>
                <a:lnTo>
                  <a:pt x="11948824" y="0"/>
                </a:lnTo>
                <a:lnTo>
                  <a:pt x="11948824" y="2280399"/>
                </a:lnTo>
                <a:lnTo>
                  <a:pt x="0" y="22803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harpenSoften amount="25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5187895" y="2529569"/>
            <a:ext cx="606584" cy="400574"/>
          </a:xfrm>
          <a:custGeom>
            <a:avLst/>
            <a:gdLst/>
            <a:ahLst/>
            <a:cxnLst/>
            <a:rect l="l" t="t" r="r" b="b"/>
            <a:pathLst>
              <a:path w="606584" h="400574">
                <a:moveTo>
                  <a:pt x="0" y="0"/>
                </a:moveTo>
                <a:lnTo>
                  <a:pt x="606583" y="0"/>
                </a:lnTo>
                <a:lnTo>
                  <a:pt x="606583" y="400574"/>
                </a:lnTo>
                <a:lnTo>
                  <a:pt x="0" y="4005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5264095" y="6206774"/>
            <a:ext cx="606584" cy="501091"/>
          </a:xfrm>
          <a:custGeom>
            <a:avLst/>
            <a:gdLst/>
            <a:ahLst/>
            <a:cxnLst/>
            <a:rect l="l" t="t" r="r" b="b"/>
            <a:pathLst>
              <a:path w="606584" h="501091">
                <a:moveTo>
                  <a:pt x="0" y="0"/>
                </a:moveTo>
                <a:lnTo>
                  <a:pt x="606583" y="0"/>
                </a:lnTo>
                <a:lnTo>
                  <a:pt x="606583" y="501091"/>
                </a:lnTo>
                <a:lnTo>
                  <a:pt x="0" y="50109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6018834" y="2432508"/>
            <a:ext cx="6694828" cy="546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 dirty="0">
                <a:solidFill>
                  <a:srgbClr val="000000"/>
                </a:solidFill>
                <a:latin typeface="Aptos Display" panose="020B0004020202020204" pitchFamily="34" charset="0"/>
                <a:ea typeface="Montserrat Bold"/>
                <a:cs typeface="Montserrat Bold"/>
                <a:sym typeface="Montserrat Bold"/>
              </a:rPr>
              <a:t>Top 5 Revenue Contributors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0" y="609046"/>
            <a:ext cx="18089802" cy="1692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59"/>
              </a:lnSpc>
            </a:pPr>
            <a:r>
              <a:rPr lang="en-US" sz="6799" b="1" dirty="0">
                <a:solidFill>
                  <a:srgbClr val="F5E6C8"/>
                </a:solidFill>
                <a:latin typeface="Aptos Display" panose="020B0004020202020204" pitchFamily="34" charset="0"/>
                <a:ea typeface="Montserrat Bold"/>
                <a:cs typeface="Montserrat Bold"/>
                <a:sym typeface="Montserrat Bold"/>
              </a:rPr>
              <a:t>Revenue Leaders &amp; Laggards</a:t>
            </a:r>
          </a:p>
          <a:p>
            <a:pPr algn="ctr">
              <a:lnSpc>
                <a:spcPts val="6459"/>
              </a:lnSpc>
            </a:pPr>
            <a:endParaRPr lang="en-US" sz="6799" b="1" dirty="0">
              <a:solidFill>
                <a:srgbClr val="F5E6C8"/>
              </a:solidFill>
              <a:latin typeface="Aptos Display" panose="020B0004020202020204" pitchFamily="34" charset="0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0" y="9691247"/>
            <a:ext cx="18089802" cy="4613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C0392B"/>
                </a:solidFill>
                <a:latin typeface="Aptos Display" panose="020B0004020202020204" pitchFamily="34" charset="0"/>
                <a:ea typeface="Montserrat Bold"/>
                <a:cs typeface="Montserrat Bold"/>
                <a:sym typeface="Montserrat Bold"/>
              </a:rPr>
              <a:t>Recommendation : </a:t>
            </a:r>
            <a:r>
              <a:rPr lang="en-US" sz="2400" dirty="0">
                <a:solidFill>
                  <a:srgbClr val="C0392B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Focus promotions on Large pizzas while testing bundle offers for XL and XXL sizes.</a:t>
            </a:r>
          </a:p>
        </p:txBody>
      </p:sp>
      <p:sp>
        <p:nvSpPr>
          <p:cNvPr id="27" name="Freeform 27"/>
          <p:cNvSpPr/>
          <p:nvPr/>
        </p:nvSpPr>
        <p:spPr>
          <a:xfrm>
            <a:off x="14953329" y="5033820"/>
            <a:ext cx="6669341" cy="3358923"/>
          </a:xfrm>
          <a:custGeom>
            <a:avLst/>
            <a:gdLst/>
            <a:ahLst/>
            <a:cxnLst/>
            <a:rect l="l" t="t" r="r" b="b"/>
            <a:pathLst>
              <a:path w="6669341" h="3358923">
                <a:moveTo>
                  <a:pt x="0" y="0"/>
                </a:moveTo>
                <a:lnTo>
                  <a:pt x="6669342" y="0"/>
                </a:lnTo>
                <a:lnTo>
                  <a:pt x="6669342" y="3358922"/>
                </a:lnTo>
                <a:lnTo>
                  <a:pt x="0" y="335892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 rot="1310804">
            <a:off x="-942421" y="5285382"/>
            <a:ext cx="1828800" cy="1117854"/>
          </a:xfrm>
          <a:custGeom>
            <a:avLst/>
            <a:gdLst/>
            <a:ahLst/>
            <a:cxnLst/>
            <a:rect l="l" t="t" r="r" b="b"/>
            <a:pathLst>
              <a:path w="1828800" h="1117854">
                <a:moveTo>
                  <a:pt x="0" y="0"/>
                </a:moveTo>
                <a:lnTo>
                  <a:pt x="1828800" y="0"/>
                </a:lnTo>
                <a:lnTo>
                  <a:pt x="1828800" y="1117854"/>
                </a:lnTo>
                <a:lnTo>
                  <a:pt x="0" y="11178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5"/>
          <p:cNvSpPr txBox="1"/>
          <p:nvPr/>
        </p:nvSpPr>
        <p:spPr>
          <a:xfrm>
            <a:off x="50787" y="9210675"/>
            <a:ext cx="18237213" cy="4613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C0392B"/>
                </a:solidFill>
                <a:latin typeface="Aptos Display" panose="020B0004020202020204" pitchFamily="34" charset="0"/>
                <a:ea typeface="Montserrat Bold"/>
                <a:cs typeface="Montserrat Bold"/>
                <a:sym typeface="Montserrat Bold"/>
              </a:rPr>
              <a:t>Key Insight : </a:t>
            </a:r>
            <a:r>
              <a:rPr lang="en-US" sz="2400" dirty="0">
                <a:solidFill>
                  <a:srgbClr val="C0392B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Large pizzas generated nearly 45.9% of total revenue, making size the strongest revenue driver.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881879" y="8142989"/>
            <a:ext cx="4950457" cy="12697"/>
            <a:chOff x="0" y="0"/>
            <a:chExt cx="6600609" cy="169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600571" cy="16891"/>
            </a:xfrm>
            <a:custGeom>
              <a:avLst/>
              <a:gdLst/>
              <a:ahLst/>
              <a:cxnLst/>
              <a:rect l="l" t="t" r="r" b="b"/>
              <a:pathLst>
                <a:path w="6600571" h="16891">
                  <a:moveTo>
                    <a:pt x="0" y="0"/>
                  </a:moveTo>
                  <a:lnTo>
                    <a:pt x="6600571" y="16891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t="-7564185" b="-7564411"/>
              </a:stretch>
            </a:blipFill>
            <a:ln w="12700" cap="sq">
              <a:solidFill>
                <a:srgbClr val="E8D5A3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2770615" y="8142989"/>
            <a:ext cx="4950457" cy="12697"/>
            <a:chOff x="0" y="0"/>
            <a:chExt cx="6600609" cy="1692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600571" cy="16891"/>
            </a:xfrm>
            <a:custGeom>
              <a:avLst/>
              <a:gdLst/>
              <a:ahLst/>
              <a:cxnLst/>
              <a:rect l="l" t="t" r="r" b="b"/>
              <a:pathLst>
                <a:path w="6600571" h="16891">
                  <a:moveTo>
                    <a:pt x="0" y="0"/>
                  </a:moveTo>
                  <a:lnTo>
                    <a:pt x="6600571" y="16891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t="-7564185" b="-7564411"/>
              </a:stretch>
            </a:blipFill>
            <a:ln w="12700" cap="sq">
              <a:solidFill>
                <a:srgbClr val="E8D5A3"/>
              </a:solidFill>
              <a:prstDash val="solid"/>
              <a:miter/>
            </a:ln>
          </p:spPr>
        </p:sp>
      </p:grpSp>
      <p:sp>
        <p:nvSpPr>
          <p:cNvPr id="10" name="Freeform 10"/>
          <p:cNvSpPr/>
          <p:nvPr/>
        </p:nvSpPr>
        <p:spPr>
          <a:xfrm>
            <a:off x="16764000" y="3677764"/>
            <a:ext cx="4129109" cy="3495168"/>
          </a:xfrm>
          <a:custGeom>
            <a:avLst/>
            <a:gdLst/>
            <a:ahLst/>
            <a:cxnLst/>
            <a:rect l="l" t="t" r="r" b="b"/>
            <a:pathLst>
              <a:path w="4129109" h="2079569">
                <a:moveTo>
                  <a:pt x="0" y="0"/>
                </a:moveTo>
                <a:lnTo>
                  <a:pt x="4129109" y="0"/>
                </a:lnTo>
                <a:lnTo>
                  <a:pt x="4129109" y="2079569"/>
                </a:lnTo>
                <a:lnTo>
                  <a:pt x="0" y="20795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>
            <a:off x="-1951385" y="7809878"/>
            <a:ext cx="4411959" cy="2801594"/>
          </a:xfrm>
          <a:custGeom>
            <a:avLst/>
            <a:gdLst/>
            <a:ahLst/>
            <a:cxnLst/>
            <a:rect l="l" t="t" r="r" b="b"/>
            <a:pathLst>
              <a:path w="4411959" h="2801594">
                <a:moveTo>
                  <a:pt x="4411958" y="0"/>
                </a:moveTo>
                <a:lnTo>
                  <a:pt x="0" y="0"/>
                </a:lnTo>
                <a:lnTo>
                  <a:pt x="0" y="2801593"/>
                </a:lnTo>
                <a:lnTo>
                  <a:pt x="4411958" y="2801593"/>
                </a:lnTo>
                <a:lnTo>
                  <a:pt x="4411958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A3555EF-6FF4-ADC0-A610-305C74A3FB58}"/>
              </a:ext>
            </a:extLst>
          </p:cNvPr>
          <p:cNvGrpSpPr/>
          <p:nvPr/>
        </p:nvGrpSpPr>
        <p:grpSpPr>
          <a:xfrm>
            <a:off x="13916" y="-270595"/>
            <a:ext cx="18288000" cy="2533771"/>
            <a:chOff x="13916" y="-270595"/>
            <a:chExt cx="18288000" cy="2533771"/>
          </a:xfrm>
        </p:grpSpPr>
        <p:grpSp>
          <p:nvGrpSpPr>
            <p:cNvPr id="2" name="Group 18">
              <a:extLst>
                <a:ext uri="{FF2B5EF4-FFF2-40B4-BE49-F238E27FC236}">
                  <a16:creationId xmlns:a16="http://schemas.microsoft.com/office/drawing/2014/main" id="{3FDA679B-B79C-4841-EE47-9C6C5A7C0597}"/>
                </a:ext>
              </a:extLst>
            </p:cNvPr>
            <p:cNvGrpSpPr/>
            <p:nvPr/>
          </p:nvGrpSpPr>
          <p:grpSpPr>
            <a:xfrm>
              <a:off x="13916" y="-9549"/>
              <a:ext cx="18288000" cy="2011680"/>
              <a:chOff x="0" y="0"/>
              <a:chExt cx="24384000" cy="2682240"/>
            </a:xfrm>
          </p:grpSpPr>
          <p:sp>
            <p:nvSpPr>
              <p:cNvPr id="3" name="Freeform 19">
                <a:extLst>
                  <a:ext uri="{FF2B5EF4-FFF2-40B4-BE49-F238E27FC236}">
                    <a16:creationId xmlns:a16="http://schemas.microsoft.com/office/drawing/2014/main" id="{8D4D1996-678B-B934-AE14-AE0F021DE098}"/>
                  </a:ext>
                </a:extLst>
              </p:cNvPr>
              <p:cNvSpPr/>
              <p:nvPr/>
            </p:nvSpPr>
            <p:spPr>
              <a:xfrm>
                <a:off x="0" y="0"/>
                <a:ext cx="24384000" cy="268224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268224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2682240"/>
                    </a:lnTo>
                    <a:lnTo>
                      <a:pt x="0" y="2682240"/>
                    </a:lnTo>
                    <a:close/>
                  </a:path>
                </a:pathLst>
              </a:custGeom>
              <a:solidFill>
                <a:srgbClr val="C0392B"/>
              </a:solidFill>
            </p:spPr>
          </p:sp>
        </p:grpSp>
        <p:sp>
          <p:nvSpPr>
            <p:cNvPr id="16" name="TextBox 14"/>
            <p:cNvSpPr txBox="1"/>
            <p:nvPr/>
          </p:nvSpPr>
          <p:spPr>
            <a:xfrm>
              <a:off x="2114973" y="-270595"/>
              <a:ext cx="14085886" cy="25337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6459"/>
                </a:lnSpc>
              </a:pPr>
              <a:endParaRPr lang="en-US" sz="6799" b="1" dirty="0">
                <a:solidFill>
                  <a:srgbClr val="F5E6C8"/>
                </a:solidFill>
                <a:latin typeface="Aptos Display" panose="020B0004020202020204" pitchFamily="34" charset="0"/>
                <a:ea typeface="Montserrat Bold"/>
                <a:cs typeface="Montserrat Bold"/>
                <a:sym typeface="Montserrat Bold"/>
              </a:endParaRPr>
            </a:p>
            <a:p>
              <a:pPr algn="ctr">
                <a:lnSpc>
                  <a:spcPts val="6459"/>
                </a:lnSpc>
              </a:pPr>
              <a:r>
                <a:rPr lang="en-US" sz="6799" b="1" dirty="0">
                  <a:solidFill>
                    <a:srgbClr val="F5E6C8"/>
                  </a:solidFill>
                  <a:latin typeface="Aptos Display" panose="020B0004020202020204" pitchFamily="34" charset="0"/>
                  <a:ea typeface="Montserrat Bold"/>
                  <a:cs typeface="Montserrat Bold"/>
                  <a:sym typeface="Montserrat Bold"/>
                </a:rPr>
                <a:t>Revenue Performance Drivers</a:t>
              </a:r>
            </a:p>
            <a:p>
              <a:pPr algn="ctr">
                <a:lnSpc>
                  <a:spcPts val="6459"/>
                </a:lnSpc>
              </a:pPr>
              <a:endParaRPr lang="en-US" sz="6799" b="1" dirty="0">
                <a:solidFill>
                  <a:srgbClr val="F5E6C8"/>
                </a:solidFill>
                <a:latin typeface="Aptos Display" panose="020B0004020202020204" pitchFamily="34" charset="0"/>
                <a:ea typeface="Montserrat Bold"/>
                <a:cs typeface="Montserrat Bold"/>
                <a:sym typeface="Montserrat Bold"/>
              </a:endParaRPr>
            </a:p>
          </p:txBody>
        </p:sp>
      </p:grp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946F2B32-9F25-4C43-E6D4-8F3B03EBEB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45747165"/>
              </p:ext>
            </p:extLst>
          </p:nvPr>
        </p:nvGraphicFramePr>
        <p:xfrm>
          <a:off x="609599" y="3303097"/>
          <a:ext cx="7545600" cy="46066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20E76B50-93B0-3B08-E6FC-681CF5309BE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02364647"/>
              </p:ext>
            </p:extLst>
          </p:nvPr>
        </p:nvGraphicFramePr>
        <p:xfrm>
          <a:off x="8915400" y="3416044"/>
          <a:ext cx="6629400" cy="44278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65946F4-15E3-0D6A-8B1A-6C3717C7A1E7}"/>
              </a:ext>
            </a:extLst>
          </p:cNvPr>
          <p:cNvSpPr/>
          <p:nvPr/>
        </p:nvSpPr>
        <p:spPr>
          <a:xfrm>
            <a:off x="8534400" y="3303097"/>
            <a:ext cx="7543800" cy="460661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35117" y="4097872"/>
            <a:ext cx="1056637" cy="50797"/>
            <a:chOff x="0" y="0"/>
            <a:chExt cx="1408849" cy="677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08811" cy="67691"/>
            </a:xfrm>
            <a:custGeom>
              <a:avLst/>
              <a:gdLst/>
              <a:ahLst/>
              <a:cxnLst/>
              <a:rect l="l" t="t" r="r" b="b"/>
              <a:pathLst>
                <a:path w="1408811" h="67691">
                  <a:moveTo>
                    <a:pt x="0" y="0"/>
                  </a:moveTo>
                  <a:lnTo>
                    <a:pt x="1408811" y="67691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t="-355512" r="-2" b="-355569"/>
              </a:stretch>
            </a:blipFill>
            <a:ln w="50800" cap="sq">
              <a:solidFill>
                <a:srgbClr val="F0C040"/>
              </a:solidFill>
              <a:prstDash val="dash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12730477" y="4097872"/>
            <a:ext cx="1056637" cy="50797"/>
            <a:chOff x="0" y="0"/>
            <a:chExt cx="1408849" cy="677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08811" cy="67691"/>
            </a:xfrm>
            <a:custGeom>
              <a:avLst/>
              <a:gdLst/>
              <a:ahLst/>
              <a:cxnLst/>
              <a:rect l="l" t="t" r="r" b="b"/>
              <a:pathLst>
                <a:path w="1408811" h="67691">
                  <a:moveTo>
                    <a:pt x="0" y="0"/>
                  </a:moveTo>
                  <a:lnTo>
                    <a:pt x="1408811" y="67691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t="-355512" r="-2" b="-355569"/>
              </a:stretch>
            </a:blipFill>
            <a:ln w="50800" cap="sq">
              <a:solidFill>
                <a:srgbClr val="F0C040"/>
              </a:solidFill>
              <a:prstDash val="dash"/>
              <a:miter/>
            </a:ln>
          </p:spPr>
        </p:sp>
      </p:grpSp>
      <p:sp>
        <p:nvSpPr>
          <p:cNvPr id="12" name="Freeform 12"/>
          <p:cNvSpPr/>
          <p:nvPr/>
        </p:nvSpPr>
        <p:spPr>
          <a:xfrm rot="1310804">
            <a:off x="-158738" y="63366"/>
            <a:ext cx="1101702" cy="673415"/>
          </a:xfrm>
          <a:custGeom>
            <a:avLst/>
            <a:gdLst/>
            <a:ahLst/>
            <a:cxnLst/>
            <a:rect l="l" t="t" r="r" b="b"/>
            <a:pathLst>
              <a:path w="1101702" h="673415">
                <a:moveTo>
                  <a:pt x="0" y="0"/>
                </a:moveTo>
                <a:lnTo>
                  <a:pt x="1101701" y="0"/>
                </a:lnTo>
                <a:lnTo>
                  <a:pt x="1101701" y="673416"/>
                </a:lnTo>
                <a:lnTo>
                  <a:pt x="0" y="6734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3150010">
            <a:off x="17326176" y="278124"/>
            <a:ext cx="1427483" cy="872549"/>
          </a:xfrm>
          <a:custGeom>
            <a:avLst/>
            <a:gdLst/>
            <a:ahLst/>
            <a:cxnLst/>
            <a:rect l="l" t="t" r="r" b="b"/>
            <a:pathLst>
              <a:path w="1427483" h="872549">
                <a:moveTo>
                  <a:pt x="0" y="0"/>
                </a:moveTo>
                <a:lnTo>
                  <a:pt x="1427483" y="0"/>
                </a:lnTo>
                <a:lnTo>
                  <a:pt x="1427483" y="872549"/>
                </a:lnTo>
                <a:lnTo>
                  <a:pt x="0" y="8725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551457" y="3342063"/>
            <a:ext cx="6358582" cy="3411639"/>
          </a:xfrm>
          <a:custGeom>
            <a:avLst/>
            <a:gdLst/>
            <a:ahLst/>
            <a:cxnLst/>
            <a:rect l="l" t="t" r="r" b="b"/>
            <a:pathLst>
              <a:path w="6358582" h="3411639">
                <a:moveTo>
                  <a:pt x="0" y="0"/>
                </a:moveTo>
                <a:lnTo>
                  <a:pt x="6358582" y="0"/>
                </a:lnTo>
                <a:lnTo>
                  <a:pt x="6358582" y="3411640"/>
                </a:lnTo>
                <a:lnTo>
                  <a:pt x="0" y="34116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902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1863223" y="3342063"/>
            <a:ext cx="4023852" cy="3768369"/>
          </a:xfrm>
          <a:custGeom>
            <a:avLst/>
            <a:gdLst/>
            <a:ahLst/>
            <a:cxnLst/>
            <a:rect l="l" t="t" r="r" b="b"/>
            <a:pathLst>
              <a:path w="4023852" h="3768369">
                <a:moveTo>
                  <a:pt x="0" y="0"/>
                </a:moveTo>
                <a:lnTo>
                  <a:pt x="4023853" y="0"/>
                </a:lnTo>
                <a:lnTo>
                  <a:pt x="4023853" y="3768370"/>
                </a:lnTo>
                <a:lnTo>
                  <a:pt x="0" y="37683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551457" y="2560499"/>
            <a:ext cx="1928383" cy="39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9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C0392B"/>
                </a:solidFill>
                <a:latin typeface="Aptos Display" panose="020B0004020202020204" pitchFamily="34" charset="0"/>
                <a:ea typeface="Montserrat Bold"/>
                <a:cs typeface="Montserrat Bold"/>
                <a:sym typeface="Montserrat Bold"/>
              </a:rPr>
              <a:t>SQL Query: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863223" y="2560499"/>
            <a:ext cx="3257164" cy="39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9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C0392B"/>
                </a:solidFill>
                <a:latin typeface="Aptos Display" panose="020B0004020202020204" pitchFamily="34" charset="0"/>
                <a:ea typeface="Montserrat Bold"/>
                <a:cs typeface="Montserrat Bold"/>
                <a:sym typeface="Montserrat Bold"/>
              </a:rPr>
              <a:t>Top 10 Ingredients: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46042" y="8881544"/>
            <a:ext cx="16692079" cy="8190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3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C0392B"/>
                </a:solidFill>
                <a:latin typeface="Aptos Display" panose="020B0004020202020204" pitchFamily="34" charset="0"/>
                <a:ea typeface="Montserrat Bold"/>
                <a:cs typeface="Montserrat Bold"/>
                <a:sym typeface="Montserrat Bold"/>
              </a:rPr>
              <a:t>          Business Insight:</a:t>
            </a:r>
            <a:r>
              <a:rPr lang="en-US" sz="2400" dirty="0">
                <a:solidFill>
                  <a:srgbClr val="C0392B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 Frequently used ingredients should receive procurement priority to minimize stock shortages and improve inventory efficiency.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B61B058-FA0C-878E-E0C5-59E15742ED4C}"/>
              </a:ext>
            </a:extLst>
          </p:cNvPr>
          <p:cNvGrpSpPr/>
          <p:nvPr/>
        </p:nvGrpSpPr>
        <p:grpSpPr>
          <a:xfrm>
            <a:off x="0" y="-303082"/>
            <a:ext cx="18288000" cy="2319134"/>
            <a:chOff x="10168" y="-270596"/>
            <a:chExt cx="18288000" cy="2319134"/>
          </a:xfrm>
        </p:grpSpPr>
        <p:grpSp>
          <p:nvGrpSpPr>
            <p:cNvPr id="5" name="Group 18">
              <a:extLst>
                <a:ext uri="{FF2B5EF4-FFF2-40B4-BE49-F238E27FC236}">
                  <a16:creationId xmlns:a16="http://schemas.microsoft.com/office/drawing/2014/main" id="{B42C9C07-7633-6422-E825-25CEFBAF0A3B}"/>
                </a:ext>
              </a:extLst>
            </p:cNvPr>
            <p:cNvGrpSpPr/>
            <p:nvPr/>
          </p:nvGrpSpPr>
          <p:grpSpPr>
            <a:xfrm>
              <a:off x="10168" y="36858"/>
              <a:ext cx="18288000" cy="2011680"/>
              <a:chOff x="-4997" y="61876"/>
              <a:chExt cx="24384000" cy="2682240"/>
            </a:xfrm>
          </p:grpSpPr>
          <p:sp>
            <p:nvSpPr>
              <p:cNvPr id="22" name="Freeform 19">
                <a:extLst>
                  <a:ext uri="{FF2B5EF4-FFF2-40B4-BE49-F238E27FC236}">
                    <a16:creationId xmlns:a16="http://schemas.microsoft.com/office/drawing/2014/main" id="{D984867E-5DBB-0B08-9782-CA1A286F842D}"/>
                  </a:ext>
                </a:extLst>
              </p:cNvPr>
              <p:cNvSpPr/>
              <p:nvPr/>
            </p:nvSpPr>
            <p:spPr>
              <a:xfrm>
                <a:off x="-4997" y="61876"/>
                <a:ext cx="24384000" cy="268224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268224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2682240"/>
                    </a:lnTo>
                    <a:lnTo>
                      <a:pt x="0" y="2682240"/>
                    </a:lnTo>
                    <a:close/>
                  </a:path>
                </a:pathLst>
              </a:custGeom>
              <a:solidFill>
                <a:srgbClr val="C0392B"/>
              </a:solidFill>
            </p:spPr>
          </p:sp>
        </p:grpSp>
        <p:sp>
          <p:nvSpPr>
            <p:cNvPr id="21" name="TextBox 14">
              <a:extLst>
                <a:ext uri="{FF2B5EF4-FFF2-40B4-BE49-F238E27FC236}">
                  <a16:creationId xmlns:a16="http://schemas.microsoft.com/office/drawing/2014/main" id="{DC5B27B0-02AA-592C-73F7-8F423F26F3BC}"/>
                </a:ext>
              </a:extLst>
            </p:cNvPr>
            <p:cNvSpPr txBox="1"/>
            <p:nvPr/>
          </p:nvSpPr>
          <p:spPr>
            <a:xfrm>
              <a:off x="2067568" y="-270596"/>
              <a:ext cx="14669365" cy="170020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6459"/>
                </a:lnSpc>
              </a:pPr>
              <a:endParaRPr lang="en-US" sz="6799" b="1" dirty="0">
                <a:solidFill>
                  <a:srgbClr val="F5E6C8"/>
                </a:solidFill>
                <a:latin typeface="Aptos Display" panose="020B0004020202020204" pitchFamily="34" charset="0"/>
                <a:ea typeface="Montserrat Bold"/>
                <a:cs typeface="Montserrat Bold"/>
                <a:sym typeface="Montserrat Bold"/>
              </a:endParaRPr>
            </a:p>
            <a:p>
              <a:pPr algn="ctr">
                <a:lnSpc>
                  <a:spcPts val="6459"/>
                </a:lnSpc>
              </a:pPr>
              <a:r>
                <a:rPr lang="en-US" sz="6799" b="1" dirty="0">
                  <a:solidFill>
                    <a:srgbClr val="F5E6C8"/>
                  </a:solidFill>
                  <a:latin typeface="Aptos Display" panose="020B0004020202020204" pitchFamily="34" charset="0"/>
                  <a:ea typeface="Montserrat Bold"/>
                  <a:cs typeface="Montserrat Bold"/>
                  <a:sym typeface="Montserrat Bold"/>
                </a:rPr>
                <a:t>Ingredient Demand Analysis</a:t>
              </a:r>
            </a:p>
          </p:txBody>
        </p:sp>
      </p:grpSp>
      <p:sp>
        <p:nvSpPr>
          <p:cNvPr id="23" name="Freeform 11">
            <a:extLst>
              <a:ext uri="{FF2B5EF4-FFF2-40B4-BE49-F238E27FC236}">
                <a16:creationId xmlns:a16="http://schemas.microsoft.com/office/drawing/2014/main" id="{A9CF4B89-D305-B419-EACF-D5137080B799}"/>
              </a:ext>
            </a:extLst>
          </p:cNvPr>
          <p:cNvSpPr/>
          <p:nvPr/>
        </p:nvSpPr>
        <p:spPr>
          <a:xfrm flipH="1">
            <a:off x="-2205980" y="7780343"/>
            <a:ext cx="4411959" cy="2801594"/>
          </a:xfrm>
          <a:custGeom>
            <a:avLst/>
            <a:gdLst/>
            <a:ahLst/>
            <a:cxnLst/>
            <a:rect l="l" t="t" r="r" b="b"/>
            <a:pathLst>
              <a:path w="4411959" h="2801594">
                <a:moveTo>
                  <a:pt x="4411958" y="0"/>
                </a:moveTo>
                <a:lnTo>
                  <a:pt x="0" y="0"/>
                </a:lnTo>
                <a:lnTo>
                  <a:pt x="0" y="2801593"/>
                </a:lnTo>
                <a:lnTo>
                  <a:pt x="4411958" y="2801593"/>
                </a:lnTo>
                <a:lnTo>
                  <a:pt x="4411958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974F2410-41A2-135E-322E-5547660BC228}"/>
              </a:ext>
            </a:extLst>
          </p:cNvPr>
          <p:cNvSpPr/>
          <p:nvPr/>
        </p:nvSpPr>
        <p:spPr>
          <a:xfrm>
            <a:off x="16306800" y="3809221"/>
            <a:ext cx="4129109" cy="3495168"/>
          </a:xfrm>
          <a:custGeom>
            <a:avLst/>
            <a:gdLst/>
            <a:ahLst/>
            <a:cxnLst/>
            <a:rect l="l" t="t" r="r" b="b"/>
            <a:pathLst>
              <a:path w="4129109" h="2079569">
                <a:moveTo>
                  <a:pt x="0" y="0"/>
                </a:moveTo>
                <a:lnTo>
                  <a:pt x="4129109" y="0"/>
                </a:lnTo>
                <a:lnTo>
                  <a:pt x="4129109" y="2079569"/>
                </a:lnTo>
                <a:lnTo>
                  <a:pt x="0" y="20795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8229600" cy="10287000"/>
            <a:chOff x="0" y="0"/>
            <a:chExt cx="109728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972800" cy="13716000"/>
            </a:xfrm>
            <a:custGeom>
              <a:avLst/>
              <a:gdLst/>
              <a:ahLst/>
              <a:cxnLst/>
              <a:rect l="l" t="t" r="r" b="b"/>
              <a:pathLst>
                <a:path w="10972800" h="13716000">
                  <a:moveTo>
                    <a:pt x="0" y="0"/>
                  </a:moveTo>
                  <a:lnTo>
                    <a:pt x="10972800" y="0"/>
                  </a:lnTo>
                  <a:lnTo>
                    <a:pt x="109728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706117" y="3357877"/>
            <a:ext cx="5902957" cy="50797"/>
            <a:chOff x="0" y="0"/>
            <a:chExt cx="7870609" cy="6772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870571" cy="67691"/>
            </a:xfrm>
            <a:custGeom>
              <a:avLst/>
              <a:gdLst/>
              <a:ahLst/>
              <a:cxnLst/>
              <a:rect l="l" t="t" r="r" b="b"/>
              <a:pathLst>
                <a:path w="7870571" h="67691">
                  <a:moveTo>
                    <a:pt x="0" y="0"/>
                  </a:moveTo>
                  <a:lnTo>
                    <a:pt x="7870571" y="67691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t="-2215548" b="-2215604"/>
              </a:stretch>
            </a:blipFill>
            <a:ln w="50800" cap="sq">
              <a:solidFill>
                <a:srgbClr val="D4A017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9144000" y="1280160"/>
            <a:ext cx="8229600" cy="2286000"/>
            <a:chOff x="0" y="0"/>
            <a:chExt cx="10972800" cy="3048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972800" cy="3048000"/>
            </a:xfrm>
            <a:custGeom>
              <a:avLst/>
              <a:gdLst/>
              <a:ahLst/>
              <a:cxnLst/>
              <a:rect l="l" t="t" r="r" b="b"/>
              <a:pathLst>
                <a:path w="10972800" h="3048000">
                  <a:moveTo>
                    <a:pt x="0" y="0"/>
                  </a:moveTo>
                  <a:lnTo>
                    <a:pt x="10972800" y="0"/>
                  </a:lnTo>
                  <a:lnTo>
                    <a:pt x="109728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2D2D2D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9144000" y="1280160"/>
            <a:ext cx="146304" cy="2286000"/>
            <a:chOff x="0" y="0"/>
            <a:chExt cx="195072" cy="3048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5072" cy="3048000"/>
            </a:xfrm>
            <a:custGeom>
              <a:avLst/>
              <a:gdLst/>
              <a:ahLst/>
              <a:cxnLst/>
              <a:rect l="l" t="t" r="r" b="b"/>
              <a:pathLst>
                <a:path w="195072" h="3048000">
                  <a:moveTo>
                    <a:pt x="0" y="0"/>
                  </a:moveTo>
                  <a:lnTo>
                    <a:pt x="195072" y="0"/>
                  </a:lnTo>
                  <a:lnTo>
                    <a:pt x="195072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9717801" y="1297546"/>
            <a:ext cx="3881363" cy="1594665"/>
            <a:chOff x="0" y="0"/>
            <a:chExt cx="5175151" cy="21262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175151" cy="2126219"/>
            </a:xfrm>
            <a:custGeom>
              <a:avLst/>
              <a:gdLst/>
              <a:ahLst/>
              <a:cxnLst/>
              <a:rect l="l" t="t" r="r" b="b"/>
              <a:pathLst>
                <a:path w="5175151" h="2126219">
                  <a:moveTo>
                    <a:pt x="0" y="0"/>
                  </a:moveTo>
                  <a:lnTo>
                    <a:pt x="5175151" y="0"/>
                  </a:lnTo>
                  <a:lnTo>
                    <a:pt x="5175151" y="2126219"/>
                  </a:lnTo>
                  <a:lnTo>
                    <a:pt x="0" y="212621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6066" r="-93181" b="-27169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5175151" cy="21262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9600"/>
                </a:lnSpc>
              </a:pPr>
              <a:r>
                <a:rPr lang="en-US" sz="8000" b="1">
                  <a:solidFill>
                    <a:srgbClr val="F0C040"/>
                  </a:solidFill>
                  <a:latin typeface="Aptos" panose="020B0004020202020204" pitchFamily="34" charset="0"/>
                  <a:ea typeface="Montserrat Bold"/>
                  <a:cs typeface="Montserrat Bold"/>
                  <a:sym typeface="Montserrat Bold"/>
                </a:rPr>
                <a:t>200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17801" y="2680094"/>
            <a:ext cx="3881363" cy="640080"/>
            <a:chOff x="0" y="0"/>
            <a:chExt cx="5175151" cy="85344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175151" cy="853440"/>
            </a:xfrm>
            <a:custGeom>
              <a:avLst/>
              <a:gdLst/>
              <a:ahLst/>
              <a:cxnLst/>
              <a:rect l="l" t="t" r="r" b="b"/>
              <a:pathLst>
                <a:path w="5175151" h="853440">
                  <a:moveTo>
                    <a:pt x="0" y="0"/>
                  </a:moveTo>
                  <a:lnTo>
                    <a:pt x="5175151" y="0"/>
                  </a:lnTo>
                  <a:lnTo>
                    <a:pt x="5175151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78253" r="-93181" b="-178253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9525"/>
              <a:ext cx="5175151" cy="8439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E8D5A3"/>
                  </a:solidFill>
                  <a:latin typeface="Aptos" panose="020B0004020202020204" pitchFamily="34" charset="0"/>
                  <a:ea typeface="Open Sans"/>
                  <a:cs typeface="Open Sans"/>
                  <a:sym typeface="Open Sans"/>
                </a:rPr>
                <a:t>Pizzas Delivered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144000" y="4114800"/>
            <a:ext cx="8229600" cy="2286000"/>
            <a:chOff x="0" y="0"/>
            <a:chExt cx="10972800" cy="3048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972800" cy="3048000"/>
            </a:xfrm>
            <a:custGeom>
              <a:avLst/>
              <a:gdLst/>
              <a:ahLst/>
              <a:cxnLst/>
              <a:rect l="l" t="t" r="r" b="b"/>
              <a:pathLst>
                <a:path w="10972800" h="3048000">
                  <a:moveTo>
                    <a:pt x="0" y="0"/>
                  </a:moveTo>
                  <a:lnTo>
                    <a:pt x="10972800" y="0"/>
                  </a:lnTo>
                  <a:lnTo>
                    <a:pt x="109728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2D2D2D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9144000" y="4114800"/>
            <a:ext cx="146304" cy="2286000"/>
            <a:chOff x="0" y="0"/>
            <a:chExt cx="195072" cy="3048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95072" cy="3048000"/>
            </a:xfrm>
            <a:custGeom>
              <a:avLst/>
              <a:gdLst/>
              <a:ahLst/>
              <a:cxnLst/>
              <a:rect l="l" t="t" r="r" b="b"/>
              <a:pathLst>
                <a:path w="195072" h="3048000">
                  <a:moveTo>
                    <a:pt x="0" y="0"/>
                  </a:moveTo>
                  <a:lnTo>
                    <a:pt x="195072" y="0"/>
                  </a:lnTo>
                  <a:lnTo>
                    <a:pt x="195072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9717801" y="4132186"/>
            <a:ext cx="3881363" cy="1594665"/>
            <a:chOff x="0" y="0"/>
            <a:chExt cx="5175151" cy="21262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175151" cy="2126219"/>
            </a:xfrm>
            <a:custGeom>
              <a:avLst/>
              <a:gdLst/>
              <a:ahLst/>
              <a:cxnLst/>
              <a:rect l="l" t="t" r="r" b="b"/>
              <a:pathLst>
                <a:path w="5175151" h="2126219">
                  <a:moveTo>
                    <a:pt x="0" y="0"/>
                  </a:moveTo>
                  <a:lnTo>
                    <a:pt x="5175151" y="0"/>
                  </a:lnTo>
                  <a:lnTo>
                    <a:pt x="5175151" y="2126219"/>
                  </a:lnTo>
                  <a:lnTo>
                    <a:pt x="0" y="212621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6066" r="-93181" b="-27169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5175151" cy="21262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9600"/>
                </a:lnSpc>
              </a:pPr>
              <a:r>
                <a:rPr lang="en-US" sz="8000" b="1">
                  <a:solidFill>
                    <a:srgbClr val="F0C040"/>
                  </a:solidFill>
                  <a:latin typeface="Aptos" panose="020B0004020202020204" pitchFamily="34" charset="0"/>
                  <a:ea typeface="Montserrat Bold"/>
                  <a:cs typeface="Montserrat Bold"/>
                  <a:sym typeface="Montserrat Bold"/>
                </a:rPr>
                <a:t>500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17801" y="5514734"/>
            <a:ext cx="3881363" cy="640080"/>
            <a:chOff x="0" y="0"/>
            <a:chExt cx="5175151" cy="85344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175151" cy="853440"/>
            </a:xfrm>
            <a:custGeom>
              <a:avLst/>
              <a:gdLst/>
              <a:ahLst/>
              <a:cxnLst/>
              <a:rect l="l" t="t" r="r" b="b"/>
              <a:pathLst>
                <a:path w="5175151" h="853440">
                  <a:moveTo>
                    <a:pt x="0" y="0"/>
                  </a:moveTo>
                  <a:lnTo>
                    <a:pt x="5175151" y="0"/>
                  </a:lnTo>
                  <a:lnTo>
                    <a:pt x="5175151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78253" r="-93181" b="-178253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9525"/>
              <a:ext cx="5175151" cy="8439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E8D5A3"/>
                  </a:solidFill>
                  <a:latin typeface="Aptos" panose="020B0004020202020204" pitchFamily="34" charset="0"/>
                  <a:ea typeface="Open Sans"/>
                  <a:cs typeface="Open Sans"/>
                  <a:sym typeface="Open Sans"/>
                </a:rPr>
                <a:t>Guests Served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144000" y="6949440"/>
            <a:ext cx="8229600" cy="2286000"/>
            <a:chOff x="0" y="0"/>
            <a:chExt cx="10972800" cy="30480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972800" cy="3048000"/>
            </a:xfrm>
            <a:custGeom>
              <a:avLst/>
              <a:gdLst/>
              <a:ahLst/>
              <a:cxnLst/>
              <a:rect l="l" t="t" r="r" b="b"/>
              <a:pathLst>
                <a:path w="10972800" h="3048000">
                  <a:moveTo>
                    <a:pt x="0" y="0"/>
                  </a:moveTo>
                  <a:lnTo>
                    <a:pt x="10972800" y="0"/>
                  </a:lnTo>
                  <a:lnTo>
                    <a:pt x="109728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2D2D2D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9144000" y="6949440"/>
            <a:ext cx="146304" cy="2286000"/>
            <a:chOff x="0" y="0"/>
            <a:chExt cx="195072" cy="30480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95072" cy="3048000"/>
            </a:xfrm>
            <a:custGeom>
              <a:avLst/>
              <a:gdLst/>
              <a:ahLst/>
              <a:cxnLst/>
              <a:rect l="l" t="t" r="r" b="b"/>
              <a:pathLst>
                <a:path w="195072" h="3048000">
                  <a:moveTo>
                    <a:pt x="0" y="0"/>
                  </a:moveTo>
                  <a:lnTo>
                    <a:pt x="195072" y="0"/>
                  </a:lnTo>
                  <a:lnTo>
                    <a:pt x="195072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9717801" y="6966826"/>
            <a:ext cx="3881363" cy="1594665"/>
            <a:chOff x="0" y="0"/>
            <a:chExt cx="5175151" cy="212621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175151" cy="2126219"/>
            </a:xfrm>
            <a:custGeom>
              <a:avLst/>
              <a:gdLst/>
              <a:ahLst/>
              <a:cxnLst/>
              <a:rect l="l" t="t" r="r" b="b"/>
              <a:pathLst>
                <a:path w="5175151" h="2126219">
                  <a:moveTo>
                    <a:pt x="0" y="0"/>
                  </a:moveTo>
                  <a:lnTo>
                    <a:pt x="5175151" y="0"/>
                  </a:lnTo>
                  <a:lnTo>
                    <a:pt x="5175151" y="2126219"/>
                  </a:lnTo>
                  <a:lnTo>
                    <a:pt x="0" y="212621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6066" r="-93181" b="-27169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0"/>
              <a:ext cx="5175151" cy="21262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9600"/>
                </a:lnSpc>
              </a:pPr>
              <a:r>
                <a:rPr lang="en-US" sz="8000" b="1">
                  <a:solidFill>
                    <a:srgbClr val="F0C040"/>
                  </a:solidFill>
                  <a:latin typeface="Aptos" panose="020B0004020202020204" pitchFamily="34" charset="0"/>
                  <a:ea typeface="Montserrat Bold"/>
                  <a:cs typeface="Montserrat Bold"/>
                  <a:sym typeface="Montserrat Bold"/>
                </a:rPr>
                <a:t>100%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717801" y="8349374"/>
            <a:ext cx="3881363" cy="640080"/>
            <a:chOff x="0" y="0"/>
            <a:chExt cx="5175151" cy="85344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175151" cy="853440"/>
            </a:xfrm>
            <a:custGeom>
              <a:avLst/>
              <a:gdLst/>
              <a:ahLst/>
              <a:cxnLst/>
              <a:rect l="l" t="t" r="r" b="b"/>
              <a:pathLst>
                <a:path w="5175151" h="853440">
                  <a:moveTo>
                    <a:pt x="0" y="0"/>
                  </a:moveTo>
                  <a:lnTo>
                    <a:pt x="5175151" y="0"/>
                  </a:lnTo>
                  <a:lnTo>
                    <a:pt x="5175151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78253" r="-93181" b="-178253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9525"/>
              <a:ext cx="5175151" cy="8439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E8D5A3"/>
                  </a:solidFill>
                  <a:latin typeface="Aptos" panose="020B0004020202020204" pitchFamily="34" charset="0"/>
                  <a:ea typeface="Open Sans"/>
                  <a:cs typeface="Open Sans"/>
                  <a:sym typeface="Open Sans"/>
                </a:rPr>
                <a:t>Satisfaction Rate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3258800" y="1285892"/>
            <a:ext cx="4114800" cy="2280268"/>
            <a:chOff x="0" y="0"/>
            <a:chExt cx="637490" cy="353273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637490" cy="353273"/>
            </a:xfrm>
            <a:custGeom>
              <a:avLst/>
              <a:gdLst/>
              <a:ahLst/>
              <a:cxnLst/>
              <a:rect l="l" t="t" r="r" b="b"/>
              <a:pathLst>
                <a:path w="637490" h="353273">
                  <a:moveTo>
                    <a:pt x="0" y="0"/>
                  </a:moveTo>
                  <a:lnTo>
                    <a:pt x="637490" y="0"/>
                  </a:lnTo>
                  <a:lnTo>
                    <a:pt x="637490" y="353273"/>
                  </a:lnTo>
                  <a:lnTo>
                    <a:pt x="0" y="353273"/>
                  </a:lnTo>
                  <a:close/>
                </a:path>
              </a:pathLst>
            </a:custGeom>
            <a:blipFill>
              <a:blip r:embed="rId3"/>
              <a:stretch>
                <a:fillRect t="-10150" b="-10150"/>
              </a:stretch>
            </a:blipFill>
          </p:spPr>
        </p:sp>
      </p:grpSp>
      <p:grpSp>
        <p:nvGrpSpPr>
          <p:cNvPr id="38" name="Group 38"/>
          <p:cNvGrpSpPr/>
          <p:nvPr/>
        </p:nvGrpSpPr>
        <p:grpSpPr>
          <a:xfrm>
            <a:off x="13258800" y="4117666"/>
            <a:ext cx="4114800" cy="2280268"/>
            <a:chOff x="0" y="0"/>
            <a:chExt cx="637490" cy="353273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37490" cy="353273"/>
            </a:xfrm>
            <a:custGeom>
              <a:avLst/>
              <a:gdLst/>
              <a:ahLst/>
              <a:cxnLst/>
              <a:rect l="l" t="t" r="r" b="b"/>
              <a:pathLst>
                <a:path w="637490" h="353273">
                  <a:moveTo>
                    <a:pt x="0" y="0"/>
                  </a:moveTo>
                  <a:lnTo>
                    <a:pt x="637490" y="0"/>
                  </a:lnTo>
                  <a:lnTo>
                    <a:pt x="637490" y="353273"/>
                  </a:lnTo>
                  <a:lnTo>
                    <a:pt x="0" y="353273"/>
                  </a:lnTo>
                  <a:close/>
                </a:path>
              </a:pathLst>
            </a:custGeom>
            <a:blipFill>
              <a:blip r:embed="rId4"/>
              <a:stretch>
                <a:fillRect t="-752" b="-752"/>
              </a:stretch>
            </a:blipFill>
          </p:spPr>
        </p:sp>
      </p:grpSp>
      <p:grpSp>
        <p:nvGrpSpPr>
          <p:cNvPr id="40" name="Group 40"/>
          <p:cNvGrpSpPr/>
          <p:nvPr/>
        </p:nvGrpSpPr>
        <p:grpSpPr>
          <a:xfrm>
            <a:off x="13258800" y="6949440"/>
            <a:ext cx="4114800" cy="2280268"/>
            <a:chOff x="0" y="0"/>
            <a:chExt cx="637490" cy="353273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637490" cy="353273"/>
            </a:xfrm>
            <a:custGeom>
              <a:avLst/>
              <a:gdLst/>
              <a:ahLst/>
              <a:cxnLst/>
              <a:rect l="l" t="t" r="r" b="b"/>
              <a:pathLst>
                <a:path w="637490" h="353273">
                  <a:moveTo>
                    <a:pt x="0" y="0"/>
                  </a:moveTo>
                  <a:lnTo>
                    <a:pt x="637490" y="0"/>
                  </a:lnTo>
                  <a:lnTo>
                    <a:pt x="637490" y="353273"/>
                  </a:lnTo>
                  <a:lnTo>
                    <a:pt x="0" y="353273"/>
                  </a:lnTo>
                  <a:close/>
                </a:path>
              </a:pathLst>
            </a:custGeom>
            <a:blipFill>
              <a:blip r:embed="rId5"/>
              <a:stretch>
                <a:fillRect t="-133764" b="-36914"/>
              </a:stretch>
            </a:blipFill>
          </p:spPr>
        </p:sp>
      </p:grpSp>
      <p:sp>
        <p:nvSpPr>
          <p:cNvPr id="42" name="Freeform 42"/>
          <p:cNvSpPr/>
          <p:nvPr/>
        </p:nvSpPr>
        <p:spPr>
          <a:xfrm>
            <a:off x="-2991089" y="8107312"/>
            <a:ext cx="6619173" cy="3923377"/>
          </a:xfrm>
          <a:custGeom>
            <a:avLst/>
            <a:gdLst/>
            <a:ahLst/>
            <a:cxnLst/>
            <a:rect l="l" t="t" r="r" b="b"/>
            <a:pathLst>
              <a:path w="6619173" h="3923377">
                <a:moveTo>
                  <a:pt x="0" y="0"/>
                </a:moveTo>
                <a:lnTo>
                  <a:pt x="6619173" y="0"/>
                </a:lnTo>
                <a:lnTo>
                  <a:pt x="6619173" y="3923378"/>
                </a:lnTo>
                <a:lnTo>
                  <a:pt x="0" y="392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 rot="-3150010">
            <a:off x="7302675" y="1535469"/>
            <a:ext cx="1828800" cy="1117854"/>
          </a:xfrm>
          <a:custGeom>
            <a:avLst/>
            <a:gdLst/>
            <a:ahLst/>
            <a:cxnLst/>
            <a:rect l="l" t="t" r="r" b="b"/>
            <a:pathLst>
              <a:path w="1828800" h="1117854">
                <a:moveTo>
                  <a:pt x="0" y="0"/>
                </a:moveTo>
                <a:lnTo>
                  <a:pt x="1828800" y="0"/>
                </a:lnTo>
                <a:lnTo>
                  <a:pt x="1828800" y="1117854"/>
                </a:lnTo>
                <a:lnTo>
                  <a:pt x="0" y="11178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45" name="TextBox 45"/>
          <p:cNvSpPr txBox="1"/>
          <p:nvPr/>
        </p:nvSpPr>
        <p:spPr>
          <a:xfrm>
            <a:off x="921053" y="1543050"/>
            <a:ext cx="4994126" cy="1790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7200" b="1">
                <a:solidFill>
                  <a:srgbClr val="F5E6C8"/>
                </a:solidFill>
                <a:latin typeface="Aptos" panose="020B0004020202020204" pitchFamily="34" charset="0"/>
                <a:ea typeface="Montserrat Ultra-Bold"/>
                <a:cs typeface="Montserrat Ultra-Bold"/>
                <a:sym typeface="Montserrat Ultra-Bold"/>
              </a:rPr>
              <a:t>SUCCESS</a:t>
            </a:r>
          </a:p>
          <a:p>
            <a:pPr algn="l">
              <a:lnSpc>
                <a:spcPts val="6839"/>
              </a:lnSpc>
            </a:pPr>
            <a:r>
              <a:rPr lang="en-US" sz="7200" b="1">
                <a:solidFill>
                  <a:srgbClr val="F5E6C8"/>
                </a:solidFill>
                <a:latin typeface="Aptos" panose="020B0004020202020204" pitchFamily="34" charset="0"/>
                <a:ea typeface="Montserrat Ultra-Bold"/>
                <a:cs typeface="Montserrat Ultra-Bold"/>
                <a:sym typeface="Montserrat Ultra-Bold"/>
              </a:rPr>
              <a:t>STORY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21053" y="4924460"/>
            <a:ext cx="5387316" cy="3212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5E6C8"/>
                </a:solidFill>
                <a:latin typeface="Aptos" panose="020B0004020202020204" pitchFamily="34" charset="0"/>
                <a:ea typeface="Open Sans"/>
                <a:cs typeface="Open Sans"/>
                <a:sym typeface="Open Sans"/>
              </a:rPr>
              <a:t>When Wardiere Inc. needed a reliable catering partner for their 500-person annual gala, La Pizzeria delivered 200 freshly made pizzas on time, with zero complaints.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F5E6C8"/>
              </a:solidFill>
              <a:latin typeface="Aptos" panose="020B0004020202020204" pitchFamily="34" charset="0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5E6C8"/>
                </a:solidFill>
                <a:latin typeface="Aptos" panose="020B0004020202020204" pitchFamily="34" charset="0"/>
                <a:ea typeface="Open Sans"/>
                <a:cs typeface="Open Sans"/>
                <a:sym typeface="Open Sans"/>
              </a:rPr>
              <a:t>Our team handled full setup, custom menu curation, and live pizza stations — turning a corporate event into an unforgettable culinary experience.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21053" y="4021804"/>
            <a:ext cx="5531344" cy="412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F0C040"/>
                </a:solidFill>
                <a:latin typeface="Aptos" panose="020B0004020202020204" pitchFamily="34" charset="0"/>
                <a:ea typeface="Open Sans Bold"/>
                <a:cs typeface="Open Sans Bold"/>
                <a:sym typeface="Open Sans Bold"/>
              </a:rPr>
              <a:t>Wardiere Inc. Corporate Catering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8F0"/>
            </a:solidFill>
          </p:spPr>
        </p:sp>
      </p:grpSp>
      <p:sp>
        <p:nvSpPr>
          <p:cNvPr id="53" name="TextBox 53"/>
          <p:cNvSpPr txBox="1"/>
          <p:nvPr/>
        </p:nvSpPr>
        <p:spPr>
          <a:xfrm>
            <a:off x="921053" y="8996598"/>
            <a:ext cx="16940817" cy="8613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C0392B"/>
                </a:solidFill>
                <a:latin typeface="Aptos Display" panose="020B0004020202020204" pitchFamily="34" charset="0"/>
                <a:ea typeface="Montserrat Bold"/>
                <a:cs typeface="Montserrat Bold"/>
                <a:sym typeface="Montserrat Bold"/>
              </a:rPr>
              <a:t>                 Business Insight:</a:t>
            </a:r>
            <a:r>
              <a:rPr lang="en-US" sz="2400" dirty="0">
                <a:solidFill>
                  <a:srgbClr val="C0392B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>
                <a:solidFill>
                  <a:srgbClr val="C0392B"/>
                </a:solidFill>
                <a:latin typeface="Aptos Display" panose="020B0004020202020204" pitchFamily="34" charset="0"/>
              </a:rPr>
              <a:t>Schedule additional staff and prepare inventory during lunch and dinner peak hours to reduce wait times and improve service efficiency.</a:t>
            </a:r>
            <a:endParaRPr lang="en-US" sz="2400" dirty="0">
              <a:solidFill>
                <a:srgbClr val="C0392B"/>
              </a:solidFill>
              <a:latin typeface="Aptos Display" panose="020B0004020202020204" pitchFamily="34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43" name="Freeform 43"/>
          <p:cNvSpPr/>
          <p:nvPr/>
        </p:nvSpPr>
        <p:spPr>
          <a:xfrm rot="1310804">
            <a:off x="17248900" y="1876736"/>
            <a:ext cx="1828800" cy="1117854"/>
          </a:xfrm>
          <a:custGeom>
            <a:avLst/>
            <a:gdLst/>
            <a:ahLst/>
            <a:cxnLst/>
            <a:rect l="l" t="t" r="r" b="b"/>
            <a:pathLst>
              <a:path w="1828800" h="1117854">
                <a:moveTo>
                  <a:pt x="0" y="0"/>
                </a:moveTo>
                <a:lnTo>
                  <a:pt x="1828800" y="0"/>
                </a:lnTo>
                <a:lnTo>
                  <a:pt x="1828800" y="1117854"/>
                </a:lnTo>
                <a:lnTo>
                  <a:pt x="0" y="11178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graphicFrame>
        <p:nvGraphicFramePr>
          <p:cNvPr id="54" name="Chart 53">
            <a:extLst>
              <a:ext uri="{FF2B5EF4-FFF2-40B4-BE49-F238E27FC236}">
                <a16:creationId xmlns:a16="http://schemas.microsoft.com/office/drawing/2014/main" id="{07E4AFCC-EA54-007E-CF03-59628CB4D3F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72123348"/>
              </p:ext>
            </p:extLst>
          </p:nvPr>
        </p:nvGraphicFramePr>
        <p:xfrm>
          <a:off x="706117" y="2691969"/>
          <a:ext cx="9217775" cy="49538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pSp>
        <p:nvGrpSpPr>
          <p:cNvPr id="56" name="Group 55">
            <a:extLst>
              <a:ext uri="{FF2B5EF4-FFF2-40B4-BE49-F238E27FC236}">
                <a16:creationId xmlns:a16="http://schemas.microsoft.com/office/drawing/2014/main" id="{D00BE108-90A3-86F9-FF86-94732F3CB4E8}"/>
              </a:ext>
            </a:extLst>
          </p:cNvPr>
          <p:cNvGrpSpPr/>
          <p:nvPr/>
        </p:nvGrpSpPr>
        <p:grpSpPr>
          <a:xfrm>
            <a:off x="0" y="3810"/>
            <a:ext cx="18288000" cy="2011680"/>
            <a:chOff x="-695948" y="2042959"/>
            <a:chExt cx="18288000" cy="2011680"/>
          </a:xfrm>
        </p:grpSpPr>
        <p:grpSp>
          <p:nvGrpSpPr>
            <p:cNvPr id="57" name="Group 18">
              <a:extLst>
                <a:ext uri="{FF2B5EF4-FFF2-40B4-BE49-F238E27FC236}">
                  <a16:creationId xmlns:a16="http://schemas.microsoft.com/office/drawing/2014/main" id="{09D2A67F-9A16-903C-2230-43C80EB7513C}"/>
                </a:ext>
              </a:extLst>
            </p:cNvPr>
            <p:cNvGrpSpPr/>
            <p:nvPr/>
          </p:nvGrpSpPr>
          <p:grpSpPr>
            <a:xfrm>
              <a:off x="-695948" y="2042959"/>
              <a:ext cx="18288000" cy="2011680"/>
              <a:chOff x="-946485" y="2736677"/>
              <a:chExt cx="24384000" cy="2682240"/>
            </a:xfrm>
          </p:grpSpPr>
          <p:sp>
            <p:nvSpPr>
              <p:cNvPr id="59" name="Freeform 19">
                <a:extLst>
                  <a:ext uri="{FF2B5EF4-FFF2-40B4-BE49-F238E27FC236}">
                    <a16:creationId xmlns:a16="http://schemas.microsoft.com/office/drawing/2014/main" id="{271B881C-06D8-B5A8-EB69-A1F875CA9E9A}"/>
                  </a:ext>
                </a:extLst>
              </p:cNvPr>
              <p:cNvSpPr/>
              <p:nvPr/>
            </p:nvSpPr>
            <p:spPr>
              <a:xfrm>
                <a:off x="-946485" y="2736677"/>
                <a:ext cx="24384000" cy="268224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268224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2682240"/>
                    </a:lnTo>
                    <a:lnTo>
                      <a:pt x="0" y="2682240"/>
                    </a:lnTo>
                    <a:close/>
                  </a:path>
                </a:pathLst>
              </a:custGeom>
              <a:solidFill>
                <a:srgbClr val="C0392B"/>
              </a:solidFill>
            </p:spPr>
          </p:sp>
        </p:grpSp>
        <p:sp>
          <p:nvSpPr>
            <p:cNvPr id="58" name="TextBox 14">
              <a:extLst>
                <a:ext uri="{FF2B5EF4-FFF2-40B4-BE49-F238E27FC236}">
                  <a16:creationId xmlns:a16="http://schemas.microsoft.com/office/drawing/2014/main" id="{4CFF986F-8E82-0361-025A-0B12F155BF51}"/>
                </a:ext>
              </a:extLst>
            </p:cNvPr>
            <p:cNvSpPr txBox="1"/>
            <p:nvPr/>
          </p:nvSpPr>
          <p:spPr>
            <a:xfrm>
              <a:off x="1113369" y="2679969"/>
              <a:ext cx="14669365" cy="85959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6459"/>
                </a:lnSpc>
              </a:pPr>
              <a:r>
                <a:rPr lang="en-US" sz="6800" b="1" dirty="0">
                  <a:solidFill>
                    <a:srgbClr val="F5E6C8"/>
                  </a:solidFill>
                  <a:latin typeface="Aptos Display" panose="020B0004020202020204" pitchFamily="34" charset="0"/>
                </a:rPr>
                <a:t>Customer Ordering Pattern by Hour</a:t>
              </a:r>
              <a:endParaRPr lang="en-US" sz="6800" b="1" dirty="0">
                <a:solidFill>
                  <a:srgbClr val="F5E6C8"/>
                </a:solidFill>
                <a:latin typeface="Aptos Display" panose="020B0004020202020204" pitchFamily="34" charset="0"/>
                <a:ea typeface="Montserrat Bold"/>
                <a:cs typeface="Montserrat Bold"/>
                <a:sym typeface="Montserrat Bold"/>
              </a:endParaRPr>
            </a:p>
          </p:txBody>
        </p:sp>
      </p:grpSp>
      <p:sp>
        <p:nvSpPr>
          <p:cNvPr id="60" name="Freeform 11">
            <a:extLst>
              <a:ext uri="{FF2B5EF4-FFF2-40B4-BE49-F238E27FC236}">
                <a16:creationId xmlns:a16="http://schemas.microsoft.com/office/drawing/2014/main" id="{D67F5318-0947-FC5E-7D08-42C62295AA14}"/>
              </a:ext>
            </a:extLst>
          </p:cNvPr>
          <p:cNvSpPr/>
          <p:nvPr/>
        </p:nvSpPr>
        <p:spPr>
          <a:xfrm flipH="1">
            <a:off x="-2216948" y="7671392"/>
            <a:ext cx="4411959" cy="2801594"/>
          </a:xfrm>
          <a:custGeom>
            <a:avLst/>
            <a:gdLst/>
            <a:ahLst/>
            <a:cxnLst/>
            <a:rect l="l" t="t" r="r" b="b"/>
            <a:pathLst>
              <a:path w="4411959" h="2801594">
                <a:moveTo>
                  <a:pt x="4411958" y="0"/>
                </a:moveTo>
                <a:lnTo>
                  <a:pt x="0" y="0"/>
                </a:lnTo>
                <a:lnTo>
                  <a:pt x="0" y="2801593"/>
                </a:lnTo>
                <a:lnTo>
                  <a:pt x="4411958" y="2801593"/>
                </a:lnTo>
                <a:lnTo>
                  <a:pt x="4411958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61" name="Freeform 10">
            <a:extLst>
              <a:ext uri="{FF2B5EF4-FFF2-40B4-BE49-F238E27FC236}">
                <a16:creationId xmlns:a16="http://schemas.microsoft.com/office/drawing/2014/main" id="{BF84586C-47C3-B65B-0346-4ED86FED4C42}"/>
              </a:ext>
            </a:extLst>
          </p:cNvPr>
          <p:cNvSpPr/>
          <p:nvPr/>
        </p:nvSpPr>
        <p:spPr>
          <a:xfrm>
            <a:off x="16571461" y="3585434"/>
            <a:ext cx="4129109" cy="3495168"/>
          </a:xfrm>
          <a:custGeom>
            <a:avLst/>
            <a:gdLst/>
            <a:ahLst/>
            <a:cxnLst/>
            <a:rect l="l" t="t" r="r" b="b"/>
            <a:pathLst>
              <a:path w="4129109" h="2079569">
                <a:moveTo>
                  <a:pt x="0" y="0"/>
                </a:moveTo>
                <a:lnTo>
                  <a:pt x="4129109" y="0"/>
                </a:lnTo>
                <a:lnTo>
                  <a:pt x="4129109" y="2079569"/>
                </a:lnTo>
                <a:lnTo>
                  <a:pt x="0" y="207956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065BABA-170F-3443-869B-575A6431F346}"/>
              </a:ext>
            </a:extLst>
          </p:cNvPr>
          <p:cNvSpPr txBox="1"/>
          <p:nvPr/>
        </p:nvSpPr>
        <p:spPr>
          <a:xfrm>
            <a:off x="10601278" y="3035567"/>
            <a:ext cx="6126833" cy="440120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C0392B"/>
              </a:solidFill>
              <a:latin typeface="Aptos Display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C0392B"/>
                </a:solidFill>
                <a:latin typeface="Aptos Display" panose="020B0004020202020204" pitchFamily="34" charset="0"/>
              </a:rPr>
              <a:t>Order demand follows a clear daily pattern, with peak activity occurring during lunch (12 PM–1 PM) and dinner (5 PM–7 PM) hours.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C0392B"/>
              </a:solidFill>
              <a:latin typeface="Aptos Display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C0392B"/>
              </a:solidFill>
              <a:latin typeface="Aptos Display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C0392B"/>
                </a:solidFill>
                <a:latin typeface="Aptos Display" panose="020B0004020202020204" pitchFamily="34" charset="0"/>
              </a:rPr>
              <a:t>Early morning and late-night periods record the lowest order volumes.</a:t>
            </a:r>
          </a:p>
          <a:p>
            <a:endParaRPr lang="en-IN" sz="2800" dirty="0">
              <a:solidFill>
                <a:srgbClr val="C0392B"/>
              </a:solidFill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10">
            <a:extLst>
              <a:ext uri="{FF2B5EF4-FFF2-40B4-BE49-F238E27FC236}">
                <a16:creationId xmlns:a16="http://schemas.microsoft.com/office/drawing/2014/main" id="{81627D73-0301-86B8-03A6-C730955E3F5F}"/>
              </a:ext>
            </a:extLst>
          </p:cNvPr>
          <p:cNvSpPr/>
          <p:nvPr/>
        </p:nvSpPr>
        <p:spPr>
          <a:xfrm>
            <a:off x="16571461" y="3585434"/>
            <a:ext cx="4129109" cy="3495168"/>
          </a:xfrm>
          <a:custGeom>
            <a:avLst/>
            <a:gdLst/>
            <a:ahLst/>
            <a:cxnLst/>
            <a:rect l="l" t="t" r="r" b="b"/>
            <a:pathLst>
              <a:path w="4129109" h="2079569">
                <a:moveTo>
                  <a:pt x="0" y="0"/>
                </a:moveTo>
                <a:lnTo>
                  <a:pt x="4129109" y="0"/>
                </a:lnTo>
                <a:lnTo>
                  <a:pt x="4129109" y="2079569"/>
                </a:lnTo>
                <a:lnTo>
                  <a:pt x="0" y="20795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" name="Freeform 2"/>
          <p:cNvSpPr/>
          <p:nvPr/>
        </p:nvSpPr>
        <p:spPr>
          <a:xfrm rot="1310804">
            <a:off x="-2981879" y="9728072"/>
            <a:ext cx="1828800" cy="1117854"/>
          </a:xfrm>
          <a:custGeom>
            <a:avLst/>
            <a:gdLst/>
            <a:ahLst/>
            <a:cxnLst/>
            <a:rect l="l" t="t" r="r" b="b"/>
            <a:pathLst>
              <a:path w="1828800" h="1117854">
                <a:moveTo>
                  <a:pt x="0" y="0"/>
                </a:moveTo>
                <a:lnTo>
                  <a:pt x="1828800" y="0"/>
                </a:lnTo>
                <a:lnTo>
                  <a:pt x="1828800" y="1117854"/>
                </a:lnTo>
                <a:lnTo>
                  <a:pt x="0" y="11178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>
              <a:latin typeface="Aptos Display" panose="020B0004020202020204" pitchFamily="34" charset="0"/>
            </a:endParaRPr>
          </a:p>
        </p:txBody>
      </p:sp>
      <p:sp>
        <p:nvSpPr>
          <p:cNvPr id="3" name="Freeform 3"/>
          <p:cNvSpPr/>
          <p:nvPr/>
        </p:nvSpPr>
        <p:spPr>
          <a:xfrm rot="-3150010">
            <a:off x="19288077" y="3745269"/>
            <a:ext cx="1828800" cy="1117854"/>
          </a:xfrm>
          <a:custGeom>
            <a:avLst/>
            <a:gdLst/>
            <a:ahLst/>
            <a:cxnLst/>
            <a:rect l="l" t="t" r="r" b="b"/>
            <a:pathLst>
              <a:path w="1828800" h="1117854">
                <a:moveTo>
                  <a:pt x="0" y="0"/>
                </a:moveTo>
                <a:lnTo>
                  <a:pt x="1828800" y="0"/>
                </a:lnTo>
                <a:lnTo>
                  <a:pt x="1828800" y="1117854"/>
                </a:lnTo>
                <a:lnTo>
                  <a:pt x="0" y="11178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28878" y="9258300"/>
            <a:ext cx="17759122" cy="39299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3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C0392B"/>
                </a:solidFill>
                <a:latin typeface="Aptos Display" panose="020B0004020202020204" pitchFamily="34" charset="0"/>
                <a:ea typeface="Montserrat Bold"/>
                <a:cs typeface="Montserrat Bold"/>
                <a:sym typeface="Montserrat Bold"/>
              </a:rPr>
              <a:t>Business Insight : </a:t>
            </a:r>
            <a:r>
              <a:rPr lang="en-US" sz="2400" dirty="0">
                <a:solidFill>
                  <a:srgbClr val="C0392B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Optimize staffing during peak hours and leverage midweek demand to maximize sales.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8BA172C-BDF0-F60F-22E9-55AF5FCDAF6E}"/>
              </a:ext>
            </a:extLst>
          </p:cNvPr>
          <p:cNvGrpSpPr/>
          <p:nvPr/>
        </p:nvGrpSpPr>
        <p:grpSpPr>
          <a:xfrm>
            <a:off x="0" y="-38100"/>
            <a:ext cx="18288000" cy="2011680"/>
            <a:chOff x="-695948" y="2042959"/>
            <a:chExt cx="18288000" cy="2011680"/>
          </a:xfrm>
        </p:grpSpPr>
        <p:grpSp>
          <p:nvGrpSpPr>
            <p:cNvPr id="11" name="Group 18">
              <a:extLst>
                <a:ext uri="{FF2B5EF4-FFF2-40B4-BE49-F238E27FC236}">
                  <a16:creationId xmlns:a16="http://schemas.microsoft.com/office/drawing/2014/main" id="{62828D7E-010B-0A17-99F5-E2E301EEFD89}"/>
                </a:ext>
              </a:extLst>
            </p:cNvPr>
            <p:cNvGrpSpPr/>
            <p:nvPr/>
          </p:nvGrpSpPr>
          <p:grpSpPr>
            <a:xfrm>
              <a:off x="-695948" y="2042959"/>
              <a:ext cx="18288000" cy="2011680"/>
              <a:chOff x="-946485" y="2736677"/>
              <a:chExt cx="24384000" cy="2682240"/>
            </a:xfrm>
          </p:grpSpPr>
          <p:sp>
            <p:nvSpPr>
              <p:cNvPr id="13" name="Freeform 19">
                <a:extLst>
                  <a:ext uri="{FF2B5EF4-FFF2-40B4-BE49-F238E27FC236}">
                    <a16:creationId xmlns:a16="http://schemas.microsoft.com/office/drawing/2014/main" id="{163B4870-F0F9-5D74-298F-BD9E46455A99}"/>
                  </a:ext>
                </a:extLst>
              </p:cNvPr>
              <p:cNvSpPr/>
              <p:nvPr/>
            </p:nvSpPr>
            <p:spPr>
              <a:xfrm>
                <a:off x="-946485" y="2736677"/>
                <a:ext cx="24384000" cy="268224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268224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2682240"/>
                    </a:lnTo>
                    <a:lnTo>
                      <a:pt x="0" y="2682240"/>
                    </a:lnTo>
                    <a:close/>
                  </a:path>
                </a:pathLst>
              </a:custGeom>
              <a:solidFill>
                <a:srgbClr val="C0392B"/>
              </a:solidFill>
            </p:spPr>
          </p:sp>
        </p:grpSp>
        <p:sp>
          <p:nvSpPr>
            <p:cNvPr id="12" name="TextBox 14">
              <a:extLst>
                <a:ext uri="{FF2B5EF4-FFF2-40B4-BE49-F238E27FC236}">
                  <a16:creationId xmlns:a16="http://schemas.microsoft.com/office/drawing/2014/main" id="{9D2593B7-96D5-DDBC-1A41-CAB332B87C39}"/>
                </a:ext>
              </a:extLst>
            </p:cNvPr>
            <p:cNvSpPr txBox="1"/>
            <p:nvPr/>
          </p:nvSpPr>
          <p:spPr>
            <a:xfrm>
              <a:off x="1113369" y="2679969"/>
              <a:ext cx="14669365" cy="88088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6459"/>
                </a:lnSpc>
              </a:pPr>
              <a:r>
                <a:rPr lang="en-US" sz="6800" b="1" dirty="0">
                  <a:solidFill>
                    <a:srgbClr val="F5E6C8"/>
                  </a:solidFill>
                  <a:latin typeface="Aptos Display" panose="020B0004020202020204" pitchFamily="34" charset="0"/>
                  <a:ea typeface="Montserrat Bold"/>
                  <a:cs typeface="Montserrat Bold"/>
                  <a:sym typeface="Montserrat Bold"/>
                </a:rPr>
                <a:t>Customer Purchase Patterns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6FD29B4-6990-301D-27C8-F7C7F0401721}"/>
              </a:ext>
            </a:extLst>
          </p:cNvPr>
          <p:cNvGrpSpPr/>
          <p:nvPr/>
        </p:nvGrpSpPr>
        <p:grpSpPr>
          <a:xfrm>
            <a:off x="9906000" y="3274392"/>
            <a:ext cx="7315200" cy="4459908"/>
            <a:chOff x="6477000" y="3619500"/>
            <a:chExt cx="7315200" cy="4191000"/>
          </a:xfrm>
        </p:grpSpPr>
        <p:graphicFrame>
          <p:nvGraphicFramePr>
            <p:cNvPr id="14" name="Chart 13">
              <a:extLst>
                <a:ext uri="{FF2B5EF4-FFF2-40B4-BE49-F238E27FC236}">
                  <a16:creationId xmlns:a16="http://schemas.microsoft.com/office/drawing/2014/main" id="{CA0ECBEF-4ADE-39E9-4492-047EA16EAC40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174223611"/>
                </p:ext>
              </p:extLst>
            </p:nvPr>
          </p:nvGraphicFramePr>
          <p:xfrm>
            <a:off x="6629400" y="3771900"/>
            <a:ext cx="6831330" cy="3810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F21A34C2-D892-395A-B9C4-ED4D80E3D003}"/>
                </a:ext>
              </a:extLst>
            </p:cNvPr>
            <p:cNvSpPr/>
            <p:nvPr/>
          </p:nvSpPr>
          <p:spPr>
            <a:xfrm>
              <a:off x="6477000" y="3619500"/>
              <a:ext cx="7315200" cy="41910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Aptos Display" panose="020B0004020202020204" pitchFamily="34" charset="0"/>
              </a:endParaRPr>
            </a:p>
          </p:txBody>
        </p:sp>
      </p:grp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1DEE156B-A7AB-F1CF-6932-ABBF9424AF8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82803329"/>
              </p:ext>
            </p:extLst>
          </p:nvPr>
        </p:nvGraphicFramePr>
        <p:xfrm>
          <a:off x="1295400" y="3619500"/>
          <a:ext cx="7212330" cy="38715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920CF0A-00A2-BF83-7A32-EBD123532A5B}"/>
              </a:ext>
            </a:extLst>
          </p:cNvPr>
          <p:cNvSpPr/>
          <p:nvPr/>
        </p:nvSpPr>
        <p:spPr>
          <a:xfrm>
            <a:off x="1066800" y="3323185"/>
            <a:ext cx="7620000" cy="445990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Freeform 11">
            <a:extLst>
              <a:ext uri="{FF2B5EF4-FFF2-40B4-BE49-F238E27FC236}">
                <a16:creationId xmlns:a16="http://schemas.microsoft.com/office/drawing/2014/main" id="{5C8AC30C-D210-F01D-2EF3-5205BC6D5FB6}"/>
              </a:ext>
            </a:extLst>
          </p:cNvPr>
          <p:cNvSpPr/>
          <p:nvPr/>
        </p:nvSpPr>
        <p:spPr>
          <a:xfrm flipH="1">
            <a:off x="-2216948" y="7671392"/>
            <a:ext cx="4411959" cy="2801594"/>
          </a:xfrm>
          <a:custGeom>
            <a:avLst/>
            <a:gdLst/>
            <a:ahLst/>
            <a:cxnLst/>
            <a:rect l="l" t="t" r="r" b="b"/>
            <a:pathLst>
              <a:path w="4411959" h="2801594">
                <a:moveTo>
                  <a:pt x="4411958" y="0"/>
                </a:moveTo>
                <a:lnTo>
                  <a:pt x="0" y="0"/>
                </a:lnTo>
                <a:lnTo>
                  <a:pt x="0" y="2801593"/>
                </a:lnTo>
                <a:lnTo>
                  <a:pt x="4411958" y="2801593"/>
                </a:lnTo>
                <a:lnTo>
                  <a:pt x="4411958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7200" y="2523936"/>
            <a:ext cx="5486400" cy="4776398"/>
            <a:chOff x="0" y="0"/>
            <a:chExt cx="7315200" cy="636853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315200" cy="6368531"/>
            </a:xfrm>
            <a:custGeom>
              <a:avLst/>
              <a:gdLst/>
              <a:ahLst/>
              <a:cxnLst/>
              <a:rect l="l" t="t" r="r" b="b"/>
              <a:pathLst>
                <a:path w="7315200" h="6368531">
                  <a:moveTo>
                    <a:pt x="0" y="0"/>
                  </a:moveTo>
                  <a:lnTo>
                    <a:pt x="7315200" y="0"/>
                  </a:lnTo>
                  <a:lnTo>
                    <a:pt x="7315200" y="6368531"/>
                  </a:lnTo>
                  <a:lnTo>
                    <a:pt x="0" y="636853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6345936" y="2523936"/>
            <a:ext cx="5486400" cy="4776398"/>
            <a:chOff x="0" y="0"/>
            <a:chExt cx="7315200" cy="636853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315200" cy="6368531"/>
            </a:xfrm>
            <a:custGeom>
              <a:avLst/>
              <a:gdLst/>
              <a:ahLst/>
              <a:cxnLst/>
              <a:rect l="l" t="t" r="r" b="b"/>
              <a:pathLst>
                <a:path w="7315200" h="6368531">
                  <a:moveTo>
                    <a:pt x="0" y="0"/>
                  </a:moveTo>
                  <a:lnTo>
                    <a:pt x="7315200" y="0"/>
                  </a:lnTo>
                  <a:lnTo>
                    <a:pt x="7315200" y="6368531"/>
                  </a:lnTo>
                  <a:lnTo>
                    <a:pt x="0" y="636853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6" name="Freeform 16"/>
          <p:cNvSpPr/>
          <p:nvPr/>
        </p:nvSpPr>
        <p:spPr>
          <a:xfrm>
            <a:off x="16513259" y="3648097"/>
            <a:ext cx="4129109" cy="3055951"/>
          </a:xfrm>
          <a:custGeom>
            <a:avLst/>
            <a:gdLst/>
            <a:ahLst/>
            <a:cxnLst/>
            <a:rect l="l" t="t" r="r" b="b"/>
            <a:pathLst>
              <a:path w="4129109" h="2079569">
                <a:moveTo>
                  <a:pt x="0" y="0"/>
                </a:moveTo>
                <a:lnTo>
                  <a:pt x="4129108" y="0"/>
                </a:lnTo>
                <a:lnTo>
                  <a:pt x="4129108" y="2079569"/>
                </a:lnTo>
                <a:lnTo>
                  <a:pt x="0" y="20795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12234672" y="2523936"/>
            <a:ext cx="5486400" cy="4776398"/>
            <a:chOff x="0" y="0"/>
            <a:chExt cx="7315200" cy="636853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315200" cy="6368531"/>
            </a:xfrm>
            <a:custGeom>
              <a:avLst/>
              <a:gdLst/>
              <a:ahLst/>
              <a:cxnLst/>
              <a:rect l="l" t="t" r="r" b="b"/>
              <a:pathLst>
                <a:path w="7315200" h="6368531">
                  <a:moveTo>
                    <a:pt x="0" y="0"/>
                  </a:moveTo>
                  <a:lnTo>
                    <a:pt x="7315200" y="0"/>
                  </a:lnTo>
                  <a:lnTo>
                    <a:pt x="7315200" y="6368531"/>
                  </a:lnTo>
                  <a:lnTo>
                    <a:pt x="0" y="636853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8" name="Freeform 18"/>
          <p:cNvSpPr/>
          <p:nvPr/>
        </p:nvSpPr>
        <p:spPr>
          <a:xfrm>
            <a:off x="676408" y="2903925"/>
            <a:ext cx="666485" cy="666485"/>
          </a:xfrm>
          <a:custGeom>
            <a:avLst/>
            <a:gdLst/>
            <a:ahLst/>
            <a:cxnLst/>
            <a:rect l="l" t="t" r="r" b="b"/>
            <a:pathLst>
              <a:path w="666485" h="666485">
                <a:moveTo>
                  <a:pt x="0" y="0"/>
                </a:moveTo>
                <a:lnTo>
                  <a:pt x="666484" y="0"/>
                </a:lnTo>
                <a:lnTo>
                  <a:pt x="666484" y="666485"/>
                </a:lnTo>
                <a:lnTo>
                  <a:pt x="0" y="6664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7063679" y="2824364"/>
            <a:ext cx="662787" cy="662787"/>
          </a:xfrm>
          <a:custGeom>
            <a:avLst/>
            <a:gdLst/>
            <a:ahLst/>
            <a:cxnLst/>
            <a:rect l="l" t="t" r="r" b="b"/>
            <a:pathLst>
              <a:path w="662787" h="662787">
                <a:moveTo>
                  <a:pt x="0" y="0"/>
                </a:moveTo>
                <a:lnTo>
                  <a:pt x="662787" y="0"/>
                </a:lnTo>
                <a:lnTo>
                  <a:pt x="662787" y="662787"/>
                </a:lnTo>
                <a:lnTo>
                  <a:pt x="0" y="6627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2232386" y="2759792"/>
            <a:ext cx="790615" cy="790615"/>
          </a:xfrm>
          <a:custGeom>
            <a:avLst/>
            <a:gdLst/>
            <a:ahLst/>
            <a:cxnLst/>
            <a:rect l="l" t="t" r="r" b="b"/>
            <a:pathLst>
              <a:path w="790615" h="790615">
                <a:moveTo>
                  <a:pt x="0" y="0"/>
                </a:moveTo>
                <a:lnTo>
                  <a:pt x="790615" y="0"/>
                </a:lnTo>
                <a:lnTo>
                  <a:pt x="790615" y="790615"/>
                </a:lnTo>
                <a:lnTo>
                  <a:pt x="0" y="7906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352240" y="2907427"/>
            <a:ext cx="3917371" cy="662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899" b="1" dirty="0">
                <a:solidFill>
                  <a:srgbClr val="C0392B"/>
                </a:solidFill>
                <a:latin typeface="Aptos Display" panose="020B0004020202020204" pitchFamily="34" charset="0"/>
                <a:ea typeface="Montserrat Bold"/>
                <a:cs typeface="Montserrat Bold"/>
                <a:sym typeface="Montserrat Bold"/>
              </a:rPr>
              <a:t>Revenue Trend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26922" y="4005967"/>
            <a:ext cx="4983138" cy="2648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C0392B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•Revenue remained stable ($63K - $74K)</a:t>
            </a:r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C0392B"/>
              </a:solidFill>
              <a:latin typeface="Aptos Display" panose="020B0004020202020204" pitchFamily="34" charset="0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C0392B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•July achieved the highest monthly revenue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745516" y="2880503"/>
            <a:ext cx="3648997" cy="680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C0392B"/>
                </a:solidFill>
                <a:latin typeface="Aptos Display" panose="020B0004020202020204" pitchFamily="34" charset="0"/>
                <a:ea typeface="Montserrat Bold"/>
                <a:cs typeface="Montserrat Bold"/>
                <a:sym typeface="Montserrat Bold"/>
              </a:rPr>
              <a:t>Business Risk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908604" y="2817247"/>
            <a:ext cx="4788780" cy="680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C0392B"/>
                </a:solidFill>
                <a:latin typeface="Aptos Display" panose="020B0004020202020204" pitchFamily="34" charset="0"/>
                <a:ea typeface="Montserrat Bold"/>
                <a:cs typeface="Montserrat Bold"/>
                <a:sym typeface="Montserrat Bold"/>
              </a:rPr>
              <a:t>Recommendation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345936" y="4005967"/>
            <a:ext cx="5486400" cy="2648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C0392B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•Limited Month-over-Month revenue growth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>
              <a:solidFill>
                <a:srgbClr val="C0392B"/>
              </a:solidFill>
              <a:latin typeface="Aptos Display" panose="020B0004020202020204" pitchFamily="34" charset="0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C0392B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•Revenue is concentrated in a few top-selling products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232386" y="4005967"/>
            <a:ext cx="5486400" cy="2664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C0392B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•Optimize low performing menu items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>
              <a:solidFill>
                <a:srgbClr val="C0392B"/>
              </a:solidFill>
              <a:latin typeface="Aptos Display" panose="020B0004020202020204" pitchFamily="34" charset="0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C0392B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•Increase focus on high-margin &amp; high-demand products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98648" y="8990832"/>
            <a:ext cx="16604299" cy="96719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C0392B"/>
                </a:solidFill>
                <a:latin typeface="Aptos Display" panose="020B0004020202020204" pitchFamily="34" charset="0"/>
                <a:ea typeface="Montserrat Bold"/>
                <a:cs typeface="Montserrat Bold"/>
                <a:sym typeface="Montserrat Bold"/>
              </a:rPr>
              <a:t>                     Executive Insight :</a:t>
            </a:r>
            <a:r>
              <a:rPr lang="en-US" sz="2400" dirty="0">
                <a:solidFill>
                  <a:srgbClr val="C0392B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 Stable revenue reflects consistent customer demand, while optimizing underperforming menu items can further improve profitability.</a:t>
            </a:r>
          </a:p>
        </p:txBody>
      </p:sp>
      <p:sp>
        <p:nvSpPr>
          <p:cNvPr id="17" name="Freeform 17"/>
          <p:cNvSpPr/>
          <p:nvPr/>
        </p:nvSpPr>
        <p:spPr>
          <a:xfrm flipH="1">
            <a:off x="-1820927" y="7664346"/>
            <a:ext cx="4411959" cy="2801594"/>
          </a:xfrm>
          <a:custGeom>
            <a:avLst/>
            <a:gdLst/>
            <a:ahLst/>
            <a:cxnLst/>
            <a:rect l="l" t="t" r="r" b="b"/>
            <a:pathLst>
              <a:path w="4411959" h="2801594">
                <a:moveTo>
                  <a:pt x="4411958" y="0"/>
                </a:moveTo>
                <a:lnTo>
                  <a:pt x="0" y="0"/>
                </a:lnTo>
                <a:lnTo>
                  <a:pt x="0" y="2801593"/>
                </a:lnTo>
                <a:lnTo>
                  <a:pt x="4411958" y="2801593"/>
                </a:lnTo>
                <a:lnTo>
                  <a:pt x="4411958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5D529B3-B4AE-7C19-0858-1DA6CAF8689F}"/>
              </a:ext>
            </a:extLst>
          </p:cNvPr>
          <p:cNvGrpSpPr/>
          <p:nvPr/>
        </p:nvGrpSpPr>
        <p:grpSpPr>
          <a:xfrm>
            <a:off x="0" y="4172"/>
            <a:ext cx="18288000" cy="2011680"/>
            <a:chOff x="-695948" y="2042959"/>
            <a:chExt cx="18288000" cy="2011680"/>
          </a:xfrm>
        </p:grpSpPr>
        <p:grpSp>
          <p:nvGrpSpPr>
            <p:cNvPr id="3" name="Group 18">
              <a:extLst>
                <a:ext uri="{FF2B5EF4-FFF2-40B4-BE49-F238E27FC236}">
                  <a16:creationId xmlns:a16="http://schemas.microsoft.com/office/drawing/2014/main" id="{0905A303-2371-2511-B816-C5C28028097E}"/>
                </a:ext>
              </a:extLst>
            </p:cNvPr>
            <p:cNvGrpSpPr/>
            <p:nvPr/>
          </p:nvGrpSpPr>
          <p:grpSpPr>
            <a:xfrm>
              <a:off x="-695948" y="2042959"/>
              <a:ext cx="18288000" cy="2011680"/>
              <a:chOff x="-946485" y="2736677"/>
              <a:chExt cx="24384000" cy="2682240"/>
            </a:xfrm>
          </p:grpSpPr>
          <p:sp>
            <p:nvSpPr>
              <p:cNvPr id="30" name="Freeform 19">
                <a:extLst>
                  <a:ext uri="{FF2B5EF4-FFF2-40B4-BE49-F238E27FC236}">
                    <a16:creationId xmlns:a16="http://schemas.microsoft.com/office/drawing/2014/main" id="{526E923C-DF33-D0DD-7728-7F253CEC82EE}"/>
                  </a:ext>
                </a:extLst>
              </p:cNvPr>
              <p:cNvSpPr/>
              <p:nvPr/>
            </p:nvSpPr>
            <p:spPr>
              <a:xfrm>
                <a:off x="-946485" y="2736677"/>
                <a:ext cx="24384000" cy="268224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268224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2682240"/>
                    </a:lnTo>
                    <a:lnTo>
                      <a:pt x="0" y="2682240"/>
                    </a:lnTo>
                    <a:close/>
                  </a:path>
                </a:pathLst>
              </a:custGeom>
              <a:solidFill>
                <a:srgbClr val="C0392B"/>
              </a:solidFill>
            </p:spPr>
          </p:sp>
        </p:grpSp>
        <p:sp>
          <p:nvSpPr>
            <p:cNvPr id="29" name="TextBox 14">
              <a:extLst>
                <a:ext uri="{FF2B5EF4-FFF2-40B4-BE49-F238E27FC236}">
                  <a16:creationId xmlns:a16="http://schemas.microsoft.com/office/drawing/2014/main" id="{21109BBB-D047-46AB-8E30-462222FE8D02}"/>
                </a:ext>
              </a:extLst>
            </p:cNvPr>
            <p:cNvSpPr txBox="1"/>
            <p:nvPr/>
          </p:nvSpPr>
          <p:spPr>
            <a:xfrm>
              <a:off x="1113369" y="2679969"/>
              <a:ext cx="14669365" cy="88088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6459"/>
                </a:lnSpc>
              </a:pPr>
              <a:r>
                <a:rPr lang="en-US" sz="6799" b="1" dirty="0">
                  <a:solidFill>
                    <a:srgbClr val="F5E6C8"/>
                  </a:solidFill>
                  <a:latin typeface="Aptos Display" panose="020B0004020202020204" pitchFamily="34" charset="0"/>
                  <a:ea typeface="Montserrat Bold"/>
                  <a:cs typeface="Montserrat Bold"/>
                  <a:sym typeface="Montserrat Bold"/>
                </a:rPr>
                <a:t>Sales Trends &amp; Business Risks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 16">
            <a:extLst>
              <a:ext uri="{FF2B5EF4-FFF2-40B4-BE49-F238E27FC236}">
                <a16:creationId xmlns:a16="http://schemas.microsoft.com/office/drawing/2014/main" id="{36938823-3A8A-8F9A-96B7-C0E9BBEC90DD}"/>
              </a:ext>
            </a:extLst>
          </p:cNvPr>
          <p:cNvSpPr/>
          <p:nvPr/>
        </p:nvSpPr>
        <p:spPr>
          <a:xfrm>
            <a:off x="16611600" y="4254294"/>
            <a:ext cx="4129109" cy="3055951"/>
          </a:xfrm>
          <a:custGeom>
            <a:avLst/>
            <a:gdLst/>
            <a:ahLst/>
            <a:cxnLst/>
            <a:rect l="l" t="t" r="r" b="b"/>
            <a:pathLst>
              <a:path w="4129109" h="2079569">
                <a:moveTo>
                  <a:pt x="0" y="0"/>
                </a:moveTo>
                <a:lnTo>
                  <a:pt x="4129108" y="0"/>
                </a:lnTo>
                <a:lnTo>
                  <a:pt x="4129108" y="2079569"/>
                </a:lnTo>
                <a:lnTo>
                  <a:pt x="0" y="20795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3" name="Freeform 17">
            <a:extLst>
              <a:ext uri="{FF2B5EF4-FFF2-40B4-BE49-F238E27FC236}">
                <a16:creationId xmlns:a16="http://schemas.microsoft.com/office/drawing/2014/main" id="{7A5722B2-17EE-2255-6348-571850DDAC6F}"/>
              </a:ext>
            </a:extLst>
          </p:cNvPr>
          <p:cNvSpPr/>
          <p:nvPr/>
        </p:nvSpPr>
        <p:spPr>
          <a:xfrm flipH="1">
            <a:off x="-1820927" y="7664346"/>
            <a:ext cx="4411959" cy="2801594"/>
          </a:xfrm>
          <a:custGeom>
            <a:avLst/>
            <a:gdLst/>
            <a:ahLst/>
            <a:cxnLst/>
            <a:rect l="l" t="t" r="r" b="b"/>
            <a:pathLst>
              <a:path w="4411959" h="2801594">
                <a:moveTo>
                  <a:pt x="4411958" y="0"/>
                </a:moveTo>
                <a:lnTo>
                  <a:pt x="0" y="0"/>
                </a:lnTo>
                <a:lnTo>
                  <a:pt x="0" y="2801593"/>
                </a:lnTo>
                <a:lnTo>
                  <a:pt x="4411958" y="2801593"/>
                </a:lnTo>
                <a:lnTo>
                  <a:pt x="4411958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2" name="Group 2"/>
          <p:cNvGrpSpPr/>
          <p:nvPr/>
        </p:nvGrpSpPr>
        <p:grpSpPr>
          <a:xfrm>
            <a:off x="914400" y="3043737"/>
            <a:ext cx="8046720" cy="3296882"/>
            <a:chOff x="0" y="0"/>
            <a:chExt cx="10728960" cy="43958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728960" cy="4395843"/>
            </a:xfrm>
            <a:custGeom>
              <a:avLst/>
              <a:gdLst/>
              <a:ahLst/>
              <a:cxnLst/>
              <a:rect l="l" t="t" r="r" b="b"/>
              <a:pathLst>
                <a:path w="10728960" h="4395843">
                  <a:moveTo>
                    <a:pt x="698500" y="0"/>
                  </a:moveTo>
                  <a:lnTo>
                    <a:pt x="10030460" y="0"/>
                  </a:lnTo>
                  <a:cubicBezTo>
                    <a:pt x="10416231" y="0"/>
                    <a:pt x="10728960" y="312729"/>
                    <a:pt x="10728960" y="698500"/>
                  </a:cubicBezTo>
                  <a:lnTo>
                    <a:pt x="10728960" y="3697343"/>
                  </a:lnTo>
                  <a:cubicBezTo>
                    <a:pt x="10728960" y="4083114"/>
                    <a:pt x="10416231" y="4395843"/>
                    <a:pt x="10030460" y="4395843"/>
                  </a:cubicBezTo>
                  <a:lnTo>
                    <a:pt x="698500" y="4395843"/>
                  </a:lnTo>
                  <a:cubicBezTo>
                    <a:pt x="513246" y="4395843"/>
                    <a:pt x="335580" y="4322251"/>
                    <a:pt x="204586" y="4191257"/>
                  </a:cubicBezTo>
                  <a:cubicBezTo>
                    <a:pt x="73592" y="4060263"/>
                    <a:pt x="0" y="3882597"/>
                    <a:pt x="0" y="3697343"/>
                  </a:cubicBezTo>
                  <a:lnTo>
                    <a:pt x="0" y="698500"/>
                  </a:lnTo>
                  <a:cubicBezTo>
                    <a:pt x="0" y="312729"/>
                    <a:pt x="312729" y="0"/>
                    <a:pt x="6985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3032391"/>
            <a:ext cx="439932" cy="3319573"/>
            <a:chOff x="0" y="0"/>
            <a:chExt cx="517045" cy="3901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7045" cy="3901440"/>
            </a:xfrm>
            <a:custGeom>
              <a:avLst/>
              <a:gdLst/>
              <a:ahLst/>
              <a:cxnLst/>
              <a:rect l="l" t="t" r="r" b="b"/>
              <a:pathLst>
                <a:path w="517045" h="3901440">
                  <a:moveTo>
                    <a:pt x="0" y="0"/>
                  </a:moveTo>
                  <a:lnTo>
                    <a:pt x="517045" y="0"/>
                  </a:lnTo>
                  <a:lnTo>
                    <a:pt x="517045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326880" y="3043737"/>
            <a:ext cx="8046720" cy="3308228"/>
            <a:chOff x="0" y="0"/>
            <a:chExt cx="10728960" cy="44109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728960" cy="4410970"/>
            </a:xfrm>
            <a:custGeom>
              <a:avLst/>
              <a:gdLst/>
              <a:ahLst/>
              <a:cxnLst/>
              <a:rect l="l" t="t" r="r" b="b"/>
              <a:pathLst>
                <a:path w="10728960" h="4410970">
                  <a:moveTo>
                    <a:pt x="698500" y="0"/>
                  </a:moveTo>
                  <a:lnTo>
                    <a:pt x="10030460" y="0"/>
                  </a:lnTo>
                  <a:cubicBezTo>
                    <a:pt x="10416231" y="0"/>
                    <a:pt x="10728960" y="312729"/>
                    <a:pt x="10728960" y="698500"/>
                  </a:cubicBezTo>
                  <a:lnTo>
                    <a:pt x="10728960" y="3712470"/>
                  </a:lnTo>
                  <a:cubicBezTo>
                    <a:pt x="10728960" y="3897724"/>
                    <a:pt x="10655368" y="4075390"/>
                    <a:pt x="10524374" y="4206384"/>
                  </a:cubicBezTo>
                  <a:cubicBezTo>
                    <a:pt x="10393380" y="4337379"/>
                    <a:pt x="10215714" y="4410970"/>
                    <a:pt x="10030460" y="4410970"/>
                  </a:cubicBezTo>
                  <a:lnTo>
                    <a:pt x="698500" y="4410970"/>
                  </a:lnTo>
                  <a:cubicBezTo>
                    <a:pt x="312729" y="4410970"/>
                    <a:pt x="0" y="4098241"/>
                    <a:pt x="0" y="3712470"/>
                  </a:cubicBezTo>
                  <a:lnTo>
                    <a:pt x="0" y="698500"/>
                  </a:lnTo>
                  <a:cubicBezTo>
                    <a:pt x="0" y="312729"/>
                    <a:pt x="312729" y="0"/>
                    <a:pt x="6985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9326880" y="3043737"/>
            <a:ext cx="417427" cy="3308228"/>
            <a:chOff x="0" y="0"/>
            <a:chExt cx="492277" cy="39014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92277" cy="3901440"/>
            </a:xfrm>
            <a:custGeom>
              <a:avLst/>
              <a:gdLst/>
              <a:ahLst/>
              <a:cxnLst/>
              <a:rect l="l" t="t" r="r" b="b"/>
              <a:pathLst>
                <a:path w="492277" h="3901440">
                  <a:moveTo>
                    <a:pt x="0" y="0"/>
                  </a:moveTo>
                  <a:lnTo>
                    <a:pt x="492277" y="0"/>
                  </a:lnTo>
                  <a:lnTo>
                    <a:pt x="492277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914400" y="6666289"/>
            <a:ext cx="8046720" cy="3330941"/>
            <a:chOff x="0" y="0"/>
            <a:chExt cx="10728960" cy="444125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728960" cy="4441254"/>
            </a:xfrm>
            <a:custGeom>
              <a:avLst/>
              <a:gdLst/>
              <a:ahLst/>
              <a:cxnLst/>
              <a:rect l="l" t="t" r="r" b="b"/>
              <a:pathLst>
                <a:path w="10728960" h="4441254">
                  <a:moveTo>
                    <a:pt x="698500" y="0"/>
                  </a:moveTo>
                  <a:lnTo>
                    <a:pt x="10030460" y="0"/>
                  </a:lnTo>
                  <a:cubicBezTo>
                    <a:pt x="10416231" y="0"/>
                    <a:pt x="10728960" y="312729"/>
                    <a:pt x="10728960" y="698500"/>
                  </a:cubicBezTo>
                  <a:lnTo>
                    <a:pt x="10728960" y="3742754"/>
                  </a:lnTo>
                  <a:cubicBezTo>
                    <a:pt x="10728960" y="3928008"/>
                    <a:pt x="10655368" y="4105675"/>
                    <a:pt x="10524374" y="4236669"/>
                  </a:cubicBezTo>
                  <a:cubicBezTo>
                    <a:pt x="10393380" y="4367663"/>
                    <a:pt x="10215714" y="4441254"/>
                    <a:pt x="10030460" y="4441254"/>
                  </a:cubicBezTo>
                  <a:lnTo>
                    <a:pt x="698500" y="4441254"/>
                  </a:lnTo>
                  <a:cubicBezTo>
                    <a:pt x="312729" y="4441254"/>
                    <a:pt x="0" y="4128526"/>
                    <a:pt x="0" y="3742754"/>
                  </a:cubicBezTo>
                  <a:lnTo>
                    <a:pt x="0" y="698500"/>
                  </a:lnTo>
                  <a:cubicBezTo>
                    <a:pt x="0" y="312729"/>
                    <a:pt x="312729" y="0"/>
                    <a:pt x="6985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9326880" y="6666289"/>
            <a:ext cx="8046720" cy="3330941"/>
            <a:chOff x="0" y="0"/>
            <a:chExt cx="10728960" cy="444125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728960" cy="4441254"/>
            </a:xfrm>
            <a:custGeom>
              <a:avLst/>
              <a:gdLst/>
              <a:ahLst/>
              <a:cxnLst/>
              <a:rect l="l" t="t" r="r" b="b"/>
              <a:pathLst>
                <a:path w="10728960" h="4441254">
                  <a:moveTo>
                    <a:pt x="698500" y="0"/>
                  </a:moveTo>
                  <a:lnTo>
                    <a:pt x="10030460" y="0"/>
                  </a:lnTo>
                  <a:cubicBezTo>
                    <a:pt x="10416231" y="0"/>
                    <a:pt x="10728960" y="312729"/>
                    <a:pt x="10728960" y="698500"/>
                  </a:cubicBezTo>
                  <a:lnTo>
                    <a:pt x="10728960" y="3742754"/>
                  </a:lnTo>
                  <a:cubicBezTo>
                    <a:pt x="10728960" y="3928008"/>
                    <a:pt x="10655368" y="4105675"/>
                    <a:pt x="10524374" y="4236669"/>
                  </a:cubicBezTo>
                  <a:cubicBezTo>
                    <a:pt x="10393380" y="4367663"/>
                    <a:pt x="10215714" y="4441254"/>
                    <a:pt x="10030460" y="4441254"/>
                  </a:cubicBezTo>
                  <a:lnTo>
                    <a:pt x="698500" y="4441254"/>
                  </a:lnTo>
                  <a:cubicBezTo>
                    <a:pt x="312729" y="4441254"/>
                    <a:pt x="0" y="4128526"/>
                    <a:pt x="0" y="3742754"/>
                  </a:cubicBezTo>
                  <a:lnTo>
                    <a:pt x="0" y="698500"/>
                  </a:lnTo>
                  <a:cubicBezTo>
                    <a:pt x="0" y="312729"/>
                    <a:pt x="312729" y="0"/>
                    <a:pt x="6985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9324014" y="6694864"/>
            <a:ext cx="420293" cy="3330941"/>
            <a:chOff x="0" y="0"/>
            <a:chExt cx="492277" cy="39014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92277" cy="3901440"/>
            </a:xfrm>
            <a:custGeom>
              <a:avLst/>
              <a:gdLst/>
              <a:ahLst/>
              <a:cxnLst/>
              <a:rect l="l" t="t" r="r" b="b"/>
              <a:pathLst>
                <a:path w="492277" h="3901440">
                  <a:moveTo>
                    <a:pt x="0" y="0"/>
                  </a:moveTo>
                  <a:lnTo>
                    <a:pt x="492277" y="0"/>
                  </a:lnTo>
                  <a:lnTo>
                    <a:pt x="492277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1463040" y="4028499"/>
            <a:ext cx="6958965" cy="2220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333333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•Promote top-selling Classic pizzas </a:t>
            </a:r>
          </a:p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333333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•Create combo meals with beverages/sides </a:t>
            </a:r>
          </a:p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333333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•Increase sales of Large-size pizzas </a:t>
            </a:r>
          </a:p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333333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•Upsell high-margin side items </a:t>
            </a:r>
          </a:p>
          <a:p>
            <a:pPr algn="l">
              <a:lnSpc>
                <a:spcPts val="3499"/>
              </a:lnSpc>
            </a:pPr>
            <a:endParaRPr lang="en-US" sz="2499" dirty="0">
              <a:solidFill>
                <a:srgbClr val="333333"/>
              </a:solidFill>
              <a:latin typeface="Aptos Display" panose="020B0004020202020204" pitchFamily="34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804068" y="4028499"/>
            <a:ext cx="7505126" cy="2220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33333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•Launch weekday promotional offers 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33333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•Increase weekend marketing campaigns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33333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•Introduce lunch-time combo deals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33333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•Reward repeat customers with loyalty offers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333333"/>
              </a:solidFill>
              <a:latin typeface="Aptos Display" panose="020B0004020202020204" pitchFamily="34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804068" y="7364567"/>
            <a:ext cx="7332333" cy="2669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33333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•Stock more ingredients for top-selling pizzas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33333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•Schedule more staff during peak hours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33333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•Reduce waste from slow-moving products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33333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•Improve demand forecasting using sales trends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33333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 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333333"/>
              </a:solidFill>
              <a:latin typeface="Aptos Display" panose="020B0004020202020204" pitchFamily="34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463040" y="7426912"/>
            <a:ext cx="7284307" cy="2220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33333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•Expand popular Classic pizza options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33333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•Improve or replace low-performing pizzas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33333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•Introduce seasonal and limited-time flavors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33333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•Focus inventory on high-demand categories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333333"/>
              </a:solidFill>
              <a:latin typeface="Aptos Display" panose="020B0004020202020204" pitchFamily="34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463040" y="3128398"/>
            <a:ext cx="5505733" cy="546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1" dirty="0">
                <a:solidFill>
                  <a:srgbClr val="C0392B"/>
                </a:solidFill>
                <a:latin typeface="Aptos Display" panose="020B0004020202020204" pitchFamily="34" charset="0"/>
                <a:ea typeface="Montserrat Bold"/>
                <a:cs typeface="Montserrat Bold"/>
                <a:sym typeface="Montserrat Bold"/>
              </a:rPr>
              <a:t>Sales Growth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960222" y="3128398"/>
            <a:ext cx="5505733" cy="546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1">
                <a:solidFill>
                  <a:srgbClr val="C0392B"/>
                </a:solidFill>
                <a:latin typeface="Aptos Display" panose="020B0004020202020204" pitchFamily="34" charset="0"/>
                <a:ea typeface="Montserrat Bold"/>
                <a:cs typeface="Montserrat Bold"/>
                <a:sym typeface="Montserrat Bold"/>
              </a:rPr>
              <a:t>Marketing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106257" y="6709428"/>
            <a:ext cx="5505733" cy="546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C0392B"/>
                </a:solidFill>
                <a:latin typeface="Aptos Display" panose="020B0004020202020204" pitchFamily="34" charset="0"/>
                <a:ea typeface="Montserrat Bold"/>
                <a:cs typeface="Montserrat Bold"/>
                <a:sym typeface="Montserrat Bold"/>
              </a:rPr>
              <a:t>Operations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63040" y="6709428"/>
            <a:ext cx="5505733" cy="546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1">
                <a:solidFill>
                  <a:srgbClr val="C0392B"/>
                </a:solidFill>
                <a:latin typeface="Aptos Display" panose="020B0004020202020204" pitchFamily="34" charset="0"/>
                <a:ea typeface="Montserrat Bold"/>
                <a:cs typeface="Montserrat Bold"/>
                <a:sym typeface="Montserrat Bold"/>
              </a:rPr>
              <a:t>Product Strategy</a:t>
            </a:r>
          </a:p>
        </p:txBody>
      </p:sp>
      <p:sp>
        <p:nvSpPr>
          <p:cNvPr id="25" name="Freeform 25"/>
          <p:cNvSpPr/>
          <p:nvPr/>
        </p:nvSpPr>
        <p:spPr>
          <a:xfrm rot="1310804">
            <a:off x="7832947" y="9438303"/>
            <a:ext cx="1828800" cy="1117854"/>
          </a:xfrm>
          <a:custGeom>
            <a:avLst/>
            <a:gdLst/>
            <a:ahLst/>
            <a:cxnLst/>
            <a:rect l="l" t="t" r="r" b="b"/>
            <a:pathLst>
              <a:path w="1828800" h="1117854">
                <a:moveTo>
                  <a:pt x="0" y="0"/>
                </a:moveTo>
                <a:lnTo>
                  <a:pt x="1828800" y="0"/>
                </a:lnTo>
                <a:lnTo>
                  <a:pt x="1828800" y="1117854"/>
                </a:lnTo>
                <a:lnTo>
                  <a:pt x="0" y="11178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27" name="Group 27"/>
          <p:cNvGrpSpPr/>
          <p:nvPr/>
        </p:nvGrpSpPr>
        <p:grpSpPr>
          <a:xfrm>
            <a:off x="904875" y="6666289"/>
            <a:ext cx="439932" cy="3319573"/>
            <a:chOff x="0" y="0"/>
            <a:chExt cx="517045" cy="390144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17045" cy="3901440"/>
            </a:xfrm>
            <a:custGeom>
              <a:avLst/>
              <a:gdLst/>
              <a:ahLst/>
              <a:cxnLst/>
              <a:rect l="l" t="t" r="r" b="b"/>
              <a:pathLst>
                <a:path w="517045" h="3901440">
                  <a:moveTo>
                    <a:pt x="0" y="0"/>
                  </a:moveTo>
                  <a:lnTo>
                    <a:pt x="517045" y="0"/>
                  </a:lnTo>
                  <a:lnTo>
                    <a:pt x="517045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8CC2D96-0C42-0638-CC3F-8968AE704998}"/>
              </a:ext>
            </a:extLst>
          </p:cNvPr>
          <p:cNvGrpSpPr/>
          <p:nvPr/>
        </p:nvGrpSpPr>
        <p:grpSpPr>
          <a:xfrm>
            <a:off x="0" y="4172"/>
            <a:ext cx="18288000" cy="2011680"/>
            <a:chOff x="-695948" y="2042959"/>
            <a:chExt cx="18288000" cy="2011680"/>
          </a:xfrm>
        </p:grpSpPr>
        <p:grpSp>
          <p:nvGrpSpPr>
            <p:cNvPr id="30" name="Group 18">
              <a:extLst>
                <a:ext uri="{FF2B5EF4-FFF2-40B4-BE49-F238E27FC236}">
                  <a16:creationId xmlns:a16="http://schemas.microsoft.com/office/drawing/2014/main" id="{BECCD323-5671-5328-5DE9-611F61301660}"/>
                </a:ext>
              </a:extLst>
            </p:cNvPr>
            <p:cNvGrpSpPr/>
            <p:nvPr/>
          </p:nvGrpSpPr>
          <p:grpSpPr>
            <a:xfrm>
              <a:off x="-695948" y="2042959"/>
              <a:ext cx="18288000" cy="2011680"/>
              <a:chOff x="-946485" y="2736677"/>
              <a:chExt cx="24384000" cy="2682240"/>
            </a:xfrm>
          </p:grpSpPr>
          <p:sp>
            <p:nvSpPr>
              <p:cNvPr id="32" name="Freeform 19">
                <a:extLst>
                  <a:ext uri="{FF2B5EF4-FFF2-40B4-BE49-F238E27FC236}">
                    <a16:creationId xmlns:a16="http://schemas.microsoft.com/office/drawing/2014/main" id="{EA52F776-853F-70CB-B2FB-188C3127A458}"/>
                  </a:ext>
                </a:extLst>
              </p:cNvPr>
              <p:cNvSpPr/>
              <p:nvPr/>
            </p:nvSpPr>
            <p:spPr>
              <a:xfrm>
                <a:off x="-946485" y="2736677"/>
                <a:ext cx="24384000" cy="268224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268224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2682240"/>
                    </a:lnTo>
                    <a:lnTo>
                      <a:pt x="0" y="2682240"/>
                    </a:lnTo>
                    <a:close/>
                  </a:path>
                </a:pathLst>
              </a:custGeom>
              <a:solidFill>
                <a:srgbClr val="C0392B"/>
              </a:solidFill>
            </p:spPr>
          </p:sp>
        </p:grpSp>
        <p:sp>
          <p:nvSpPr>
            <p:cNvPr id="31" name="TextBox 14">
              <a:extLst>
                <a:ext uri="{FF2B5EF4-FFF2-40B4-BE49-F238E27FC236}">
                  <a16:creationId xmlns:a16="http://schemas.microsoft.com/office/drawing/2014/main" id="{D5AB9D6D-6117-B513-E45C-8B16390FD800}"/>
                </a:ext>
              </a:extLst>
            </p:cNvPr>
            <p:cNvSpPr txBox="1"/>
            <p:nvPr/>
          </p:nvSpPr>
          <p:spPr>
            <a:xfrm>
              <a:off x="1113369" y="2679969"/>
              <a:ext cx="14669365" cy="88088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6459"/>
                </a:lnSpc>
              </a:pPr>
              <a:r>
                <a:rPr lang="en-US" sz="6799" b="1" dirty="0">
                  <a:solidFill>
                    <a:srgbClr val="F5E6C8"/>
                  </a:solidFill>
                  <a:latin typeface="Aptos Display" panose="020B0004020202020204" pitchFamily="34" charset="0"/>
                  <a:ea typeface="Montserrat Bold"/>
                  <a:cs typeface="Montserrat Bold"/>
                  <a:sym typeface="Montserrat Bold"/>
                </a:rPr>
                <a:t>Strategic Recommendations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2011680"/>
            <a:chOff x="0" y="0"/>
            <a:chExt cx="24384000" cy="26822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682240"/>
            </a:xfrm>
            <a:custGeom>
              <a:avLst/>
              <a:gdLst/>
              <a:ahLst/>
              <a:cxnLst/>
              <a:rect l="l" t="t" r="r" b="b"/>
              <a:pathLst>
                <a:path w="24384000" h="2682240">
                  <a:moveTo>
                    <a:pt x="0" y="0"/>
                  </a:moveTo>
                  <a:lnTo>
                    <a:pt x="24384000" y="0"/>
                  </a:lnTo>
                  <a:lnTo>
                    <a:pt x="2438400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548640" y="2701209"/>
            <a:ext cx="5486400" cy="3291840"/>
            <a:chOff x="0" y="0"/>
            <a:chExt cx="7315200" cy="43891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315200" cy="4389120"/>
            </a:xfrm>
            <a:custGeom>
              <a:avLst/>
              <a:gdLst/>
              <a:ahLst/>
              <a:cxnLst/>
              <a:rect l="l" t="t" r="r" b="b"/>
              <a:pathLst>
                <a:path w="7315200" h="4389120">
                  <a:moveTo>
                    <a:pt x="0" y="0"/>
                  </a:moveTo>
                  <a:lnTo>
                    <a:pt x="7315200" y="0"/>
                  </a:lnTo>
                  <a:lnTo>
                    <a:pt x="7315200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548640" y="2701209"/>
            <a:ext cx="5486400" cy="585216"/>
            <a:chOff x="0" y="0"/>
            <a:chExt cx="7315200" cy="78028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315200" cy="780288"/>
            </a:xfrm>
            <a:custGeom>
              <a:avLst/>
              <a:gdLst/>
              <a:ahLst/>
              <a:cxnLst/>
              <a:rect l="l" t="t" r="r" b="b"/>
              <a:pathLst>
                <a:path w="7315200" h="780288">
                  <a:moveTo>
                    <a:pt x="0" y="0"/>
                  </a:moveTo>
                  <a:lnTo>
                    <a:pt x="7315200" y="0"/>
                  </a:lnTo>
                  <a:lnTo>
                    <a:pt x="731520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548640" y="2701209"/>
            <a:ext cx="5490210" cy="592116"/>
            <a:chOff x="0" y="0"/>
            <a:chExt cx="7315200" cy="7889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315200" cy="788940"/>
            </a:xfrm>
            <a:custGeom>
              <a:avLst/>
              <a:gdLst/>
              <a:ahLst/>
              <a:cxnLst/>
              <a:rect l="l" t="t" r="r" b="b"/>
              <a:pathLst>
                <a:path w="7315200" h="788940">
                  <a:moveTo>
                    <a:pt x="0" y="0"/>
                  </a:moveTo>
                  <a:lnTo>
                    <a:pt x="7315200" y="0"/>
                  </a:lnTo>
                  <a:lnTo>
                    <a:pt x="7315200" y="788940"/>
                  </a:lnTo>
                  <a:lnTo>
                    <a:pt x="0" y="7889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1217" b="-130120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9525"/>
              <a:ext cx="7315200" cy="7794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99"/>
                </a:lnSpc>
              </a:pPr>
              <a:r>
                <a:rPr lang="en-US" sz="2999" b="1">
                  <a:solidFill>
                    <a:srgbClr val="F5E6C8"/>
                  </a:solidFill>
                  <a:latin typeface="Aptos" panose="020B0004020202020204" pitchFamily="34" charset="0"/>
                  <a:ea typeface="Montserrat Bold"/>
                  <a:cs typeface="Montserrat Bold"/>
                  <a:sym typeface="Montserrat Bold"/>
                </a:rPr>
                <a:t>Revenue Growth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48640" y="3302765"/>
            <a:ext cx="5486400" cy="2776009"/>
            <a:chOff x="0" y="0"/>
            <a:chExt cx="7315200" cy="370134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315200" cy="3701345"/>
            </a:xfrm>
            <a:custGeom>
              <a:avLst/>
              <a:gdLst/>
              <a:ahLst/>
              <a:cxnLst/>
              <a:rect l="l" t="t" r="r" b="b"/>
              <a:pathLst>
                <a:path w="7315200" h="3701345">
                  <a:moveTo>
                    <a:pt x="0" y="0"/>
                  </a:moveTo>
                  <a:lnTo>
                    <a:pt x="7315200" y="0"/>
                  </a:lnTo>
                  <a:lnTo>
                    <a:pt x="7315200" y="3701345"/>
                  </a:lnTo>
                  <a:lnTo>
                    <a:pt x="0" y="370134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5992" b="48973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7315200" cy="37013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59"/>
                </a:lnSpc>
              </a:pPr>
              <a:r>
                <a:rPr lang="en-US" sz="2299" b="1" dirty="0">
                  <a:solidFill>
                    <a:srgbClr val="6B6B6B"/>
                  </a:solidFill>
                  <a:latin typeface="Aptos" panose="020B0004020202020204" pitchFamily="34" charset="0"/>
                  <a:ea typeface="Montserrat Bold"/>
                  <a:cs typeface="Montserrat Bold"/>
                  <a:sym typeface="Montserrat Bold"/>
                </a:rPr>
                <a:t>Action</a:t>
              </a:r>
              <a:r>
                <a:rPr lang="en-US" sz="2299" dirty="0">
                  <a:solidFill>
                    <a:srgbClr val="6B6B6B"/>
                  </a:solidFill>
                  <a:latin typeface="Aptos" panose="020B0004020202020204" pitchFamily="34" charset="0"/>
                  <a:ea typeface="Montserrat"/>
                  <a:cs typeface="Montserrat"/>
                  <a:sym typeface="Montserrat"/>
                </a:rPr>
                <a:t> </a:t>
              </a:r>
            </a:p>
            <a:p>
              <a:pPr algn="ctr">
                <a:lnSpc>
                  <a:spcPts val="3239"/>
                </a:lnSpc>
              </a:pPr>
              <a:r>
                <a:rPr lang="en-US" sz="2699" b="1" dirty="0">
                  <a:solidFill>
                    <a:srgbClr val="C0392B"/>
                  </a:solidFill>
                  <a:latin typeface="Aptos" panose="020B0004020202020204" pitchFamily="34" charset="0"/>
                  <a:ea typeface="Montserrat Bold"/>
                  <a:cs typeface="Montserrat Bold"/>
                  <a:sym typeface="Montserrat Bold"/>
                </a:rPr>
                <a:t>Promote Best Sellers</a:t>
              </a:r>
            </a:p>
            <a:p>
              <a:pPr algn="ctr">
                <a:lnSpc>
                  <a:spcPts val="2639"/>
                </a:lnSpc>
              </a:pPr>
              <a:r>
                <a:rPr lang="en-US" sz="2199" b="1" dirty="0">
                  <a:solidFill>
                    <a:srgbClr val="6B6B6B"/>
                  </a:solidFill>
                  <a:latin typeface="Aptos" panose="020B0004020202020204" pitchFamily="34" charset="0"/>
                  <a:ea typeface="Montserrat Bold"/>
                  <a:cs typeface="Montserrat Bold"/>
                  <a:sym typeface="Montserrat Bold"/>
                </a:rPr>
                <a:t>Expected Outcome</a:t>
              </a:r>
            </a:p>
            <a:p>
              <a:pPr algn="ctr">
                <a:lnSpc>
                  <a:spcPts val="3239"/>
                </a:lnSpc>
              </a:pPr>
              <a:r>
                <a:rPr lang="en-US" sz="2699" b="1" dirty="0">
                  <a:solidFill>
                    <a:srgbClr val="C0392B"/>
                  </a:solidFill>
                  <a:latin typeface="Aptos" panose="020B0004020202020204" pitchFamily="34" charset="0"/>
                  <a:ea typeface="Montserrat Bold"/>
                  <a:cs typeface="Montserrat Bold"/>
                  <a:sym typeface="Montserrat Bold"/>
                </a:rPr>
                <a:t> Higher sales from high-performing products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400800" y="2701209"/>
            <a:ext cx="5486400" cy="3291840"/>
            <a:chOff x="0" y="0"/>
            <a:chExt cx="7315200" cy="43891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315200" cy="4389120"/>
            </a:xfrm>
            <a:custGeom>
              <a:avLst/>
              <a:gdLst/>
              <a:ahLst/>
              <a:cxnLst/>
              <a:rect l="l" t="t" r="r" b="b"/>
              <a:pathLst>
                <a:path w="7315200" h="4389120">
                  <a:moveTo>
                    <a:pt x="0" y="0"/>
                  </a:moveTo>
                  <a:lnTo>
                    <a:pt x="7315200" y="0"/>
                  </a:lnTo>
                  <a:lnTo>
                    <a:pt x="7315200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6400800" y="2701209"/>
            <a:ext cx="5486400" cy="585216"/>
            <a:chOff x="0" y="0"/>
            <a:chExt cx="7315200" cy="78028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315200" cy="780288"/>
            </a:xfrm>
            <a:custGeom>
              <a:avLst/>
              <a:gdLst/>
              <a:ahLst/>
              <a:cxnLst/>
              <a:rect l="l" t="t" r="r" b="b"/>
              <a:pathLst>
                <a:path w="7315200" h="780288">
                  <a:moveTo>
                    <a:pt x="0" y="0"/>
                  </a:moveTo>
                  <a:lnTo>
                    <a:pt x="7315200" y="0"/>
                  </a:lnTo>
                  <a:lnTo>
                    <a:pt x="731520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6400800" y="2701209"/>
            <a:ext cx="5486400" cy="601556"/>
            <a:chOff x="0" y="0"/>
            <a:chExt cx="7315200" cy="80207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315200" cy="802075"/>
            </a:xfrm>
            <a:custGeom>
              <a:avLst/>
              <a:gdLst/>
              <a:ahLst/>
              <a:cxnLst/>
              <a:rect l="l" t="t" r="r" b="b"/>
              <a:pathLst>
                <a:path w="7315200" h="802075">
                  <a:moveTo>
                    <a:pt x="0" y="0"/>
                  </a:moveTo>
                  <a:lnTo>
                    <a:pt x="7315200" y="0"/>
                  </a:lnTo>
                  <a:lnTo>
                    <a:pt x="7315200" y="802075"/>
                  </a:lnTo>
                  <a:lnTo>
                    <a:pt x="0" y="80207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9068" b="-126352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7315200" cy="802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F5E6C8"/>
                  </a:solidFill>
                  <a:latin typeface="Aptos" panose="020B0004020202020204" pitchFamily="34" charset="0"/>
                  <a:ea typeface="Montserrat Bold"/>
                  <a:cs typeface="Montserrat Bold"/>
                  <a:sym typeface="Montserrat Bold"/>
                </a:rPr>
                <a:t>Inventory Optimization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252960" y="2701209"/>
            <a:ext cx="5486400" cy="3291840"/>
            <a:chOff x="0" y="0"/>
            <a:chExt cx="7315200" cy="438912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315200" cy="4389120"/>
            </a:xfrm>
            <a:custGeom>
              <a:avLst/>
              <a:gdLst/>
              <a:ahLst/>
              <a:cxnLst/>
              <a:rect l="l" t="t" r="r" b="b"/>
              <a:pathLst>
                <a:path w="7315200" h="4389120">
                  <a:moveTo>
                    <a:pt x="0" y="0"/>
                  </a:moveTo>
                  <a:lnTo>
                    <a:pt x="7315200" y="0"/>
                  </a:lnTo>
                  <a:lnTo>
                    <a:pt x="7315200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12252960" y="2701209"/>
            <a:ext cx="5486400" cy="585216"/>
            <a:chOff x="0" y="0"/>
            <a:chExt cx="7315200" cy="78028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315200" cy="780288"/>
            </a:xfrm>
            <a:custGeom>
              <a:avLst/>
              <a:gdLst/>
              <a:ahLst/>
              <a:cxnLst/>
              <a:rect l="l" t="t" r="r" b="b"/>
              <a:pathLst>
                <a:path w="7315200" h="780288">
                  <a:moveTo>
                    <a:pt x="0" y="0"/>
                  </a:moveTo>
                  <a:lnTo>
                    <a:pt x="7315200" y="0"/>
                  </a:lnTo>
                  <a:lnTo>
                    <a:pt x="731520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12252960" y="2701209"/>
            <a:ext cx="5486400" cy="601556"/>
            <a:chOff x="0" y="0"/>
            <a:chExt cx="7315200" cy="80207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315200" cy="802075"/>
            </a:xfrm>
            <a:custGeom>
              <a:avLst/>
              <a:gdLst/>
              <a:ahLst/>
              <a:cxnLst/>
              <a:rect l="l" t="t" r="r" b="b"/>
              <a:pathLst>
                <a:path w="7315200" h="802075">
                  <a:moveTo>
                    <a:pt x="0" y="0"/>
                  </a:moveTo>
                  <a:lnTo>
                    <a:pt x="7315200" y="0"/>
                  </a:lnTo>
                  <a:lnTo>
                    <a:pt x="7315200" y="802075"/>
                  </a:lnTo>
                  <a:lnTo>
                    <a:pt x="0" y="80207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9068" b="-126352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0"/>
              <a:ext cx="7315200" cy="802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F5E6C8"/>
                  </a:solidFill>
                  <a:latin typeface="Aptos" panose="020B0004020202020204" pitchFamily="34" charset="0"/>
                  <a:ea typeface="Montserrat Bold"/>
                  <a:cs typeface="Montserrat Bold"/>
                  <a:sym typeface="Montserrat Bold"/>
                </a:rPr>
                <a:t>Operational Efficiency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48640" y="6450249"/>
            <a:ext cx="5486400" cy="3291840"/>
            <a:chOff x="0" y="0"/>
            <a:chExt cx="7315200" cy="438912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315200" cy="4389120"/>
            </a:xfrm>
            <a:custGeom>
              <a:avLst/>
              <a:gdLst/>
              <a:ahLst/>
              <a:cxnLst/>
              <a:rect l="l" t="t" r="r" b="b"/>
              <a:pathLst>
                <a:path w="7315200" h="4389120">
                  <a:moveTo>
                    <a:pt x="0" y="0"/>
                  </a:moveTo>
                  <a:lnTo>
                    <a:pt x="7315200" y="0"/>
                  </a:lnTo>
                  <a:lnTo>
                    <a:pt x="7315200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548640" y="6450249"/>
            <a:ext cx="5486400" cy="585216"/>
            <a:chOff x="0" y="0"/>
            <a:chExt cx="7315200" cy="78028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315200" cy="780288"/>
            </a:xfrm>
            <a:custGeom>
              <a:avLst/>
              <a:gdLst/>
              <a:ahLst/>
              <a:cxnLst/>
              <a:rect l="l" t="t" r="r" b="b"/>
              <a:pathLst>
                <a:path w="7315200" h="780288">
                  <a:moveTo>
                    <a:pt x="0" y="0"/>
                  </a:moveTo>
                  <a:lnTo>
                    <a:pt x="7315200" y="0"/>
                  </a:lnTo>
                  <a:lnTo>
                    <a:pt x="731520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548640" y="6450249"/>
            <a:ext cx="5486400" cy="601556"/>
            <a:chOff x="0" y="0"/>
            <a:chExt cx="7315200" cy="802075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7315200" cy="802075"/>
            </a:xfrm>
            <a:custGeom>
              <a:avLst/>
              <a:gdLst/>
              <a:ahLst/>
              <a:cxnLst/>
              <a:rect l="l" t="t" r="r" b="b"/>
              <a:pathLst>
                <a:path w="7315200" h="802075">
                  <a:moveTo>
                    <a:pt x="0" y="0"/>
                  </a:moveTo>
                  <a:lnTo>
                    <a:pt x="7315200" y="0"/>
                  </a:lnTo>
                  <a:lnTo>
                    <a:pt x="7315200" y="802075"/>
                  </a:lnTo>
                  <a:lnTo>
                    <a:pt x="0" y="80207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9068" b="-126352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7315200" cy="802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F5E6C8"/>
                  </a:solidFill>
                  <a:latin typeface="Aptos" panose="020B0004020202020204" pitchFamily="34" charset="0"/>
                  <a:ea typeface="Montserrat Bold"/>
                  <a:cs typeface="Montserrat Bold"/>
                  <a:sym typeface="Montserrat Bold"/>
                </a:rPr>
                <a:t>Marketing Performance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400800" y="6450249"/>
            <a:ext cx="5486400" cy="3291840"/>
            <a:chOff x="0" y="0"/>
            <a:chExt cx="7315200" cy="438912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315200" cy="4389120"/>
            </a:xfrm>
            <a:custGeom>
              <a:avLst/>
              <a:gdLst/>
              <a:ahLst/>
              <a:cxnLst/>
              <a:rect l="l" t="t" r="r" b="b"/>
              <a:pathLst>
                <a:path w="7315200" h="4389120">
                  <a:moveTo>
                    <a:pt x="0" y="0"/>
                  </a:moveTo>
                  <a:lnTo>
                    <a:pt x="7315200" y="0"/>
                  </a:lnTo>
                  <a:lnTo>
                    <a:pt x="7315200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6400800" y="6450249"/>
            <a:ext cx="5486400" cy="585216"/>
            <a:chOff x="0" y="0"/>
            <a:chExt cx="7315200" cy="780288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7315200" cy="780288"/>
            </a:xfrm>
            <a:custGeom>
              <a:avLst/>
              <a:gdLst/>
              <a:ahLst/>
              <a:cxnLst/>
              <a:rect l="l" t="t" r="r" b="b"/>
              <a:pathLst>
                <a:path w="7315200" h="780288">
                  <a:moveTo>
                    <a:pt x="0" y="0"/>
                  </a:moveTo>
                  <a:lnTo>
                    <a:pt x="7315200" y="0"/>
                  </a:lnTo>
                  <a:lnTo>
                    <a:pt x="731520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6400800" y="6450249"/>
            <a:ext cx="5486400" cy="601556"/>
            <a:chOff x="0" y="0"/>
            <a:chExt cx="7315200" cy="802075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7315200" cy="802075"/>
            </a:xfrm>
            <a:custGeom>
              <a:avLst/>
              <a:gdLst/>
              <a:ahLst/>
              <a:cxnLst/>
              <a:rect l="l" t="t" r="r" b="b"/>
              <a:pathLst>
                <a:path w="7315200" h="802075">
                  <a:moveTo>
                    <a:pt x="0" y="0"/>
                  </a:moveTo>
                  <a:lnTo>
                    <a:pt x="7315200" y="0"/>
                  </a:lnTo>
                  <a:lnTo>
                    <a:pt x="7315200" y="802075"/>
                  </a:lnTo>
                  <a:lnTo>
                    <a:pt x="0" y="80207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9068" b="-126352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0"/>
              <a:ext cx="7315200" cy="802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F5E6C8"/>
                  </a:solidFill>
                  <a:latin typeface="Aptos" panose="020B0004020202020204" pitchFamily="34" charset="0"/>
                  <a:ea typeface="Montserrat Bold"/>
                  <a:cs typeface="Montserrat Bold"/>
                  <a:sym typeface="Montserrat Bold"/>
                </a:rPr>
                <a:t>Product Strategy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2252960" y="6450249"/>
            <a:ext cx="5486400" cy="3291840"/>
            <a:chOff x="0" y="0"/>
            <a:chExt cx="7315200" cy="438912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7315200" cy="4389120"/>
            </a:xfrm>
            <a:custGeom>
              <a:avLst/>
              <a:gdLst/>
              <a:ahLst/>
              <a:cxnLst/>
              <a:rect l="l" t="t" r="r" b="b"/>
              <a:pathLst>
                <a:path w="7315200" h="4389120">
                  <a:moveTo>
                    <a:pt x="0" y="0"/>
                  </a:moveTo>
                  <a:lnTo>
                    <a:pt x="7315200" y="0"/>
                  </a:lnTo>
                  <a:lnTo>
                    <a:pt x="7315200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12252960" y="6450249"/>
            <a:ext cx="5486400" cy="585216"/>
            <a:chOff x="0" y="0"/>
            <a:chExt cx="7315200" cy="780288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7315200" cy="780288"/>
            </a:xfrm>
            <a:custGeom>
              <a:avLst/>
              <a:gdLst/>
              <a:ahLst/>
              <a:cxnLst/>
              <a:rect l="l" t="t" r="r" b="b"/>
              <a:pathLst>
                <a:path w="7315200" h="780288">
                  <a:moveTo>
                    <a:pt x="0" y="0"/>
                  </a:moveTo>
                  <a:lnTo>
                    <a:pt x="7315200" y="0"/>
                  </a:lnTo>
                  <a:lnTo>
                    <a:pt x="731520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12252960" y="6450249"/>
            <a:ext cx="5486400" cy="601556"/>
            <a:chOff x="0" y="0"/>
            <a:chExt cx="7315200" cy="802075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7315200" cy="802075"/>
            </a:xfrm>
            <a:custGeom>
              <a:avLst/>
              <a:gdLst/>
              <a:ahLst/>
              <a:cxnLst/>
              <a:rect l="l" t="t" r="r" b="b"/>
              <a:pathLst>
                <a:path w="7315200" h="802075">
                  <a:moveTo>
                    <a:pt x="0" y="0"/>
                  </a:moveTo>
                  <a:lnTo>
                    <a:pt x="7315200" y="0"/>
                  </a:lnTo>
                  <a:lnTo>
                    <a:pt x="7315200" y="802075"/>
                  </a:lnTo>
                  <a:lnTo>
                    <a:pt x="0" y="80207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9068" b="-126352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0"/>
              <a:ext cx="7315200" cy="802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F5E6C8"/>
                  </a:solidFill>
                  <a:latin typeface="Aptos" panose="020B0004020202020204" pitchFamily="34" charset="0"/>
                  <a:ea typeface="Montserrat Bold"/>
                  <a:cs typeface="Montserrat Bold"/>
                  <a:sym typeface="Montserrat Bold"/>
                </a:rPr>
                <a:t>Decision Support</a:t>
              </a:r>
            </a:p>
          </p:txBody>
        </p:sp>
      </p:grpSp>
      <p:sp>
        <p:nvSpPr>
          <p:cNvPr id="50" name="Freeform 50"/>
          <p:cNvSpPr/>
          <p:nvPr/>
        </p:nvSpPr>
        <p:spPr>
          <a:xfrm>
            <a:off x="10576154" y="5143811"/>
            <a:ext cx="2987852" cy="1607216"/>
          </a:xfrm>
          <a:custGeom>
            <a:avLst/>
            <a:gdLst/>
            <a:ahLst/>
            <a:cxnLst/>
            <a:rect l="l" t="t" r="r" b="b"/>
            <a:pathLst>
              <a:path w="2987852" h="1607216">
                <a:moveTo>
                  <a:pt x="0" y="0"/>
                </a:moveTo>
                <a:lnTo>
                  <a:pt x="2987852" y="0"/>
                </a:lnTo>
                <a:lnTo>
                  <a:pt x="2987852" y="1607216"/>
                </a:lnTo>
                <a:lnTo>
                  <a:pt x="0" y="16072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1" name="TextBox 51"/>
          <p:cNvSpPr txBox="1"/>
          <p:nvPr/>
        </p:nvSpPr>
        <p:spPr>
          <a:xfrm>
            <a:off x="2327128" y="680421"/>
            <a:ext cx="14387198" cy="873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59"/>
              </a:lnSpc>
            </a:pPr>
            <a:r>
              <a:rPr lang="en-US" sz="6799" b="1">
                <a:solidFill>
                  <a:srgbClr val="F5E6C8"/>
                </a:solidFill>
                <a:latin typeface="Aptos" panose="020B0004020202020204" pitchFamily="34" charset="0"/>
                <a:ea typeface="Montserrat Bold"/>
                <a:cs typeface="Montserrat Bold"/>
                <a:sym typeface="Montserrat Bold"/>
              </a:rPr>
              <a:t>Expected Business Impact</a:t>
            </a:r>
          </a:p>
        </p:txBody>
      </p:sp>
      <p:sp>
        <p:nvSpPr>
          <p:cNvPr id="53" name="Freeform 53"/>
          <p:cNvSpPr/>
          <p:nvPr/>
        </p:nvSpPr>
        <p:spPr>
          <a:xfrm rot="-3150010">
            <a:off x="15702399" y="1661802"/>
            <a:ext cx="1828800" cy="1117854"/>
          </a:xfrm>
          <a:custGeom>
            <a:avLst/>
            <a:gdLst/>
            <a:ahLst/>
            <a:cxnLst/>
            <a:rect l="l" t="t" r="r" b="b"/>
            <a:pathLst>
              <a:path w="1828800" h="1117854">
                <a:moveTo>
                  <a:pt x="0" y="0"/>
                </a:moveTo>
                <a:lnTo>
                  <a:pt x="1828800" y="0"/>
                </a:lnTo>
                <a:lnTo>
                  <a:pt x="1828800" y="1117854"/>
                </a:lnTo>
                <a:lnTo>
                  <a:pt x="0" y="11178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4" name="Group 54"/>
          <p:cNvGrpSpPr/>
          <p:nvPr/>
        </p:nvGrpSpPr>
        <p:grpSpPr>
          <a:xfrm>
            <a:off x="6400800" y="3302765"/>
            <a:ext cx="5486400" cy="2776009"/>
            <a:chOff x="0" y="0"/>
            <a:chExt cx="7315200" cy="3701345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7315200" cy="3701345"/>
            </a:xfrm>
            <a:custGeom>
              <a:avLst/>
              <a:gdLst/>
              <a:ahLst/>
              <a:cxnLst/>
              <a:rect l="l" t="t" r="r" b="b"/>
              <a:pathLst>
                <a:path w="7315200" h="3701345">
                  <a:moveTo>
                    <a:pt x="0" y="0"/>
                  </a:moveTo>
                  <a:lnTo>
                    <a:pt x="7315200" y="0"/>
                  </a:lnTo>
                  <a:lnTo>
                    <a:pt x="7315200" y="3701345"/>
                  </a:lnTo>
                  <a:lnTo>
                    <a:pt x="0" y="370134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5992" b="48973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0"/>
              <a:ext cx="7315200" cy="37013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59"/>
                </a:lnSpc>
              </a:pPr>
              <a:r>
                <a:rPr lang="en-US" sz="2299" b="1">
                  <a:solidFill>
                    <a:srgbClr val="6B6B6B"/>
                  </a:solidFill>
                  <a:latin typeface="Aptos" panose="020B0004020202020204" pitchFamily="34" charset="0"/>
                  <a:ea typeface="Montserrat Bold"/>
                  <a:cs typeface="Montserrat Bold"/>
                  <a:sym typeface="Montserrat Bold"/>
                </a:rPr>
                <a:t>Action</a:t>
              </a:r>
              <a:r>
                <a:rPr lang="en-US" sz="2299">
                  <a:solidFill>
                    <a:srgbClr val="6B6B6B"/>
                  </a:solidFill>
                  <a:latin typeface="Aptos" panose="020B0004020202020204" pitchFamily="34" charset="0"/>
                  <a:ea typeface="Montserrat"/>
                  <a:cs typeface="Montserrat"/>
                  <a:sym typeface="Montserrat"/>
                </a:rPr>
                <a:t> </a:t>
              </a:r>
            </a:p>
            <a:p>
              <a:pPr algn="ctr">
                <a:lnSpc>
                  <a:spcPts val="3239"/>
                </a:lnSpc>
              </a:pPr>
              <a:r>
                <a:rPr lang="en-US" sz="2699" b="1">
                  <a:solidFill>
                    <a:srgbClr val="C0392B"/>
                  </a:solidFill>
                  <a:latin typeface="Aptos" panose="020B0004020202020204" pitchFamily="34" charset="0"/>
                  <a:ea typeface="Montserrat Bold"/>
                  <a:cs typeface="Montserrat Bold"/>
                  <a:sym typeface="Montserrat Bold"/>
                </a:rPr>
                <a:t>Prioritize Core Ingredients</a:t>
              </a:r>
            </a:p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6B6B6B"/>
                  </a:solidFill>
                  <a:latin typeface="Aptos" panose="020B0004020202020204" pitchFamily="34" charset="0"/>
                  <a:ea typeface="Montserrat Bold"/>
                  <a:cs typeface="Montserrat Bold"/>
                  <a:sym typeface="Montserrat Bold"/>
                </a:rPr>
                <a:t>Expected Outcome</a:t>
              </a:r>
            </a:p>
            <a:p>
              <a:pPr algn="ctr">
                <a:lnSpc>
                  <a:spcPts val="3239"/>
                </a:lnSpc>
              </a:pPr>
              <a:r>
                <a:rPr lang="en-US" sz="2699" b="1">
                  <a:solidFill>
                    <a:srgbClr val="C0392B"/>
                  </a:solidFill>
                  <a:latin typeface="Aptos" panose="020B0004020202020204" pitchFamily="34" charset="0"/>
                  <a:ea typeface="Montserrat Bold"/>
                  <a:cs typeface="Montserrat Bold"/>
                  <a:sym typeface="Montserrat Bold"/>
                </a:rPr>
                <a:t> Lower inventory waste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2252960" y="3293325"/>
            <a:ext cx="5486400" cy="2776009"/>
            <a:chOff x="0" y="0"/>
            <a:chExt cx="7315200" cy="3701345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7315200" cy="3701345"/>
            </a:xfrm>
            <a:custGeom>
              <a:avLst/>
              <a:gdLst/>
              <a:ahLst/>
              <a:cxnLst/>
              <a:rect l="l" t="t" r="r" b="b"/>
              <a:pathLst>
                <a:path w="7315200" h="3701345">
                  <a:moveTo>
                    <a:pt x="0" y="0"/>
                  </a:moveTo>
                  <a:lnTo>
                    <a:pt x="7315200" y="0"/>
                  </a:lnTo>
                  <a:lnTo>
                    <a:pt x="7315200" y="3701345"/>
                  </a:lnTo>
                  <a:lnTo>
                    <a:pt x="0" y="370134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5992" b="48973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0"/>
              <a:ext cx="7315200" cy="37013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59"/>
                </a:lnSpc>
              </a:pPr>
              <a:r>
                <a:rPr lang="en-US" sz="2299" b="1">
                  <a:solidFill>
                    <a:srgbClr val="6B6B6B"/>
                  </a:solidFill>
                  <a:latin typeface="Aptos" panose="020B0004020202020204" pitchFamily="34" charset="0"/>
                  <a:ea typeface="Montserrat Bold"/>
                  <a:cs typeface="Montserrat Bold"/>
                  <a:sym typeface="Montserrat Bold"/>
                </a:rPr>
                <a:t>Action</a:t>
              </a:r>
              <a:r>
                <a:rPr lang="en-US" sz="2299">
                  <a:solidFill>
                    <a:srgbClr val="6B6B6B"/>
                  </a:solidFill>
                  <a:latin typeface="Aptos" panose="020B0004020202020204" pitchFamily="34" charset="0"/>
                  <a:ea typeface="Montserrat"/>
                  <a:cs typeface="Montserrat"/>
                  <a:sym typeface="Montserrat"/>
                </a:rPr>
                <a:t> </a:t>
              </a:r>
            </a:p>
            <a:p>
              <a:pPr algn="ctr">
                <a:lnSpc>
                  <a:spcPts val="3239"/>
                </a:lnSpc>
              </a:pPr>
              <a:r>
                <a:rPr lang="en-US" sz="2699" b="1">
                  <a:solidFill>
                    <a:srgbClr val="C0392B"/>
                  </a:solidFill>
                  <a:latin typeface="Aptos" panose="020B0004020202020204" pitchFamily="34" charset="0"/>
                  <a:ea typeface="Montserrat Bold"/>
                  <a:cs typeface="Montserrat Bold"/>
                  <a:sym typeface="Montserrat Bold"/>
                </a:rPr>
                <a:t>Align Peak-Hour Staffing</a:t>
              </a:r>
            </a:p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6B6B6B"/>
                  </a:solidFill>
                  <a:latin typeface="Aptos" panose="020B0004020202020204" pitchFamily="34" charset="0"/>
                  <a:ea typeface="Montserrat Bold"/>
                  <a:cs typeface="Montserrat Bold"/>
                  <a:sym typeface="Montserrat Bold"/>
                </a:rPr>
                <a:t>Expected Outcome</a:t>
              </a:r>
            </a:p>
            <a:p>
              <a:pPr algn="ctr">
                <a:lnSpc>
                  <a:spcPts val="3239"/>
                </a:lnSpc>
              </a:pPr>
              <a:r>
                <a:rPr lang="en-US" sz="2699" b="1">
                  <a:solidFill>
                    <a:srgbClr val="C0392B"/>
                  </a:solidFill>
                  <a:latin typeface="Aptos" panose="020B0004020202020204" pitchFamily="34" charset="0"/>
                  <a:ea typeface="Montserrat Bold"/>
                  <a:cs typeface="Montserrat Bold"/>
                  <a:sym typeface="Montserrat Bold"/>
                </a:rPr>
                <a:t> Faster order fulfillment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52450" y="7070855"/>
            <a:ext cx="5486400" cy="2776009"/>
            <a:chOff x="0" y="0"/>
            <a:chExt cx="7315200" cy="3701345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7315200" cy="3701345"/>
            </a:xfrm>
            <a:custGeom>
              <a:avLst/>
              <a:gdLst/>
              <a:ahLst/>
              <a:cxnLst/>
              <a:rect l="l" t="t" r="r" b="b"/>
              <a:pathLst>
                <a:path w="7315200" h="3701345">
                  <a:moveTo>
                    <a:pt x="0" y="0"/>
                  </a:moveTo>
                  <a:lnTo>
                    <a:pt x="7315200" y="0"/>
                  </a:lnTo>
                  <a:lnTo>
                    <a:pt x="7315200" y="3701345"/>
                  </a:lnTo>
                  <a:lnTo>
                    <a:pt x="0" y="370134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5992" b="48973"/>
              </a:stretch>
            </a:blipFill>
          </p:spPr>
        </p:sp>
        <p:sp>
          <p:nvSpPr>
            <p:cNvPr id="62" name="TextBox 62"/>
            <p:cNvSpPr txBox="1"/>
            <p:nvPr/>
          </p:nvSpPr>
          <p:spPr>
            <a:xfrm>
              <a:off x="0" y="0"/>
              <a:ext cx="7315200" cy="37013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59"/>
                </a:lnSpc>
              </a:pPr>
              <a:r>
                <a:rPr lang="en-US" sz="2299" b="1">
                  <a:solidFill>
                    <a:srgbClr val="6B6B6B"/>
                  </a:solidFill>
                  <a:latin typeface="Aptos" panose="020B0004020202020204" pitchFamily="34" charset="0"/>
                  <a:ea typeface="Montserrat Bold"/>
                  <a:cs typeface="Montserrat Bold"/>
                  <a:sym typeface="Montserrat Bold"/>
                </a:rPr>
                <a:t>Action</a:t>
              </a:r>
              <a:r>
                <a:rPr lang="en-US" sz="2299">
                  <a:solidFill>
                    <a:srgbClr val="6B6B6B"/>
                  </a:solidFill>
                  <a:latin typeface="Aptos" panose="020B0004020202020204" pitchFamily="34" charset="0"/>
                  <a:ea typeface="Montserrat"/>
                  <a:cs typeface="Montserrat"/>
                  <a:sym typeface="Montserrat"/>
                </a:rPr>
                <a:t> </a:t>
              </a:r>
            </a:p>
            <a:p>
              <a:pPr algn="ctr">
                <a:lnSpc>
                  <a:spcPts val="3239"/>
                </a:lnSpc>
              </a:pPr>
              <a:r>
                <a:rPr lang="en-US" sz="2699" b="1">
                  <a:solidFill>
                    <a:srgbClr val="C0392B"/>
                  </a:solidFill>
                  <a:latin typeface="Aptos" panose="020B0004020202020204" pitchFamily="34" charset="0"/>
                  <a:ea typeface="Montserrat Bold"/>
                  <a:cs typeface="Montserrat Bold"/>
                  <a:sym typeface="Montserrat Bold"/>
                </a:rPr>
                <a:t>Target Weekday Campaigns</a:t>
              </a:r>
            </a:p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6B6B6B"/>
                  </a:solidFill>
                  <a:latin typeface="Aptos" panose="020B0004020202020204" pitchFamily="34" charset="0"/>
                  <a:ea typeface="Montserrat Bold"/>
                  <a:cs typeface="Montserrat Bold"/>
                  <a:sym typeface="Montserrat Bold"/>
                </a:rPr>
                <a:t>Expected Outcome</a:t>
              </a:r>
            </a:p>
            <a:p>
              <a:pPr algn="ctr">
                <a:lnSpc>
                  <a:spcPts val="3239"/>
                </a:lnSpc>
              </a:pPr>
              <a:r>
                <a:rPr lang="en-US" sz="2699" b="1">
                  <a:solidFill>
                    <a:srgbClr val="C0392B"/>
                  </a:solidFill>
                  <a:latin typeface="Aptos" panose="020B0004020202020204" pitchFamily="34" charset="0"/>
                  <a:ea typeface="Montserrat Bold"/>
                  <a:cs typeface="Montserrat Bold"/>
                  <a:sym typeface="Montserrat Bold"/>
                </a:rPr>
                <a:t>Increased customer engagement 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6400800" y="7070855"/>
            <a:ext cx="5486400" cy="2928409"/>
            <a:chOff x="0" y="0"/>
            <a:chExt cx="7315200" cy="3904545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7315200" cy="3904545"/>
            </a:xfrm>
            <a:custGeom>
              <a:avLst/>
              <a:gdLst/>
              <a:ahLst/>
              <a:cxnLst/>
              <a:rect l="l" t="t" r="r" b="b"/>
              <a:pathLst>
                <a:path w="7315200" h="3904545">
                  <a:moveTo>
                    <a:pt x="0" y="0"/>
                  </a:moveTo>
                  <a:lnTo>
                    <a:pt x="7315200" y="0"/>
                  </a:lnTo>
                  <a:lnTo>
                    <a:pt x="7315200" y="3904545"/>
                  </a:lnTo>
                  <a:lnTo>
                    <a:pt x="0" y="390454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639" b="51629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0"/>
              <a:ext cx="7315200" cy="39045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59"/>
                </a:lnSpc>
              </a:pPr>
              <a:r>
                <a:rPr lang="en-US" sz="2299" b="1">
                  <a:solidFill>
                    <a:srgbClr val="6B6B6B"/>
                  </a:solidFill>
                  <a:latin typeface="Aptos" panose="020B0004020202020204" pitchFamily="34" charset="0"/>
                  <a:ea typeface="Montserrat Bold"/>
                  <a:cs typeface="Montserrat Bold"/>
                  <a:sym typeface="Montserrat Bold"/>
                </a:rPr>
                <a:t>Action</a:t>
              </a:r>
              <a:r>
                <a:rPr lang="en-US" sz="2299">
                  <a:solidFill>
                    <a:srgbClr val="6B6B6B"/>
                  </a:solidFill>
                  <a:latin typeface="Aptos" panose="020B0004020202020204" pitchFamily="34" charset="0"/>
                  <a:ea typeface="Montserrat"/>
                  <a:cs typeface="Montserrat"/>
                  <a:sym typeface="Montserrat"/>
                </a:rPr>
                <a:t> </a:t>
              </a:r>
            </a:p>
            <a:p>
              <a:pPr algn="ctr">
                <a:lnSpc>
                  <a:spcPts val="3239"/>
                </a:lnSpc>
              </a:pPr>
              <a:r>
                <a:rPr lang="en-US" sz="2699" b="1">
                  <a:solidFill>
                    <a:srgbClr val="C0392B"/>
                  </a:solidFill>
                  <a:latin typeface="Aptos" panose="020B0004020202020204" pitchFamily="34" charset="0"/>
                  <a:ea typeface="Montserrat Bold"/>
                  <a:cs typeface="Montserrat Bold"/>
                  <a:sym typeface="Montserrat Bold"/>
                </a:rPr>
                <a:t>Review Low Performers</a:t>
              </a:r>
            </a:p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6B6B6B"/>
                  </a:solidFill>
                  <a:latin typeface="Aptos" panose="020B0004020202020204" pitchFamily="34" charset="0"/>
                  <a:ea typeface="Montserrat Bold"/>
                  <a:cs typeface="Montserrat Bold"/>
                  <a:sym typeface="Montserrat Bold"/>
                </a:rPr>
                <a:t>Expected Outcome</a:t>
              </a:r>
            </a:p>
            <a:p>
              <a:pPr algn="ctr">
                <a:lnSpc>
                  <a:spcPts val="3239"/>
                </a:lnSpc>
              </a:pPr>
              <a:r>
                <a:rPr lang="en-US" sz="2699" b="1">
                  <a:solidFill>
                    <a:srgbClr val="C0392B"/>
                  </a:solidFill>
                  <a:latin typeface="Aptos" panose="020B0004020202020204" pitchFamily="34" charset="0"/>
                  <a:ea typeface="Montserrat Bold"/>
                  <a:cs typeface="Montserrat Bold"/>
                  <a:sym typeface="Montserrat Bold"/>
                </a:rPr>
                <a:t> Optimized menu portfolio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2252960" y="7035465"/>
            <a:ext cx="5486400" cy="2776009"/>
            <a:chOff x="0" y="0"/>
            <a:chExt cx="7315200" cy="3701345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7315200" cy="3701345"/>
            </a:xfrm>
            <a:custGeom>
              <a:avLst/>
              <a:gdLst/>
              <a:ahLst/>
              <a:cxnLst/>
              <a:rect l="l" t="t" r="r" b="b"/>
              <a:pathLst>
                <a:path w="7315200" h="3701345">
                  <a:moveTo>
                    <a:pt x="0" y="0"/>
                  </a:moveTo>
                  <a:lnTo>
                    <a:pt x="7315200" y="0"/>
                  </a:lnTo>
                  <a:lnTo>
                    <a:pt x="7315200" y="3701345"/>
                  </a:lnTo>
                  <a:lnTo>
                    <a:pt x="0" y="370134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5992" b="48973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0"/>
              <a:ext cx="7315200" cy="37013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59"/>
                </a:lnSpc>
              </a:pPr>
              <a:r>
                <a:rPr lang="en-US" sz="2299" b="1">
                  <a:solidFill>
                    <a:srgbClr val="6B6B6B"/>
                  </a:solidFill>
                  <a:latin typeface="Aptos" panose="020B0004020202020204" pitchFamily="34" charset="0"/>
                  <a:ea typeface="Montserrat Bold"/>
                  <a:cs typeface="Montserrat Bold"/>
                  <a:sym typeface="Montserrat Bold"/>
                </a:rPr>
                <a:t>Action</a:t>
              </a:r>
              <a:r>
                <a:rPr lang="en-US" sz="2299">
                  <a:solidFill>
                    <a:srgbClr val="6B6B6B"/>
                  </a:solidFill>
                  <a:latin typeface="Aptos" panose="020B0004020202020204" pitchFamily="34" charset="0"/>
                  <a:ea typeface="Montserrat"/>
                  <a:cs typeface="Montserrat"/>
                  <a:sym typeface="Montserrat"/>
                </a:rPr>
                <a:t> </a:t>
              </a:r>
            </a:p>
            <a:p>
              <a:pPr algn="ctr">
                <a:lnSpc>
                  <a:spcPts val="3239"/>
                </a:lnSpc>
              </a:pPr>
              <a:r>
                <a:rPr lang="en-US" sz="2699" b="1">
                  <a:solidFill>
                    <a:srgbClr val="C0392B"/>
                  </a:solidFill>
                  <a:latin typeface="Aptos" panose="020B0004020202020204" pitchFamily="34" charset="0"/>
                  <a:ea typeface="Montserrat Bold"/>
                  <a:cs typeface="Montserrat Bold"/>
                  <a:sym typeface="Montserrat Bold"/>
                </a:rPr>
                <a:t>KPI Monitoring</a:t>
              </a:r>
            </a:p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6B6B6B"/>
                  </a:solidFill>
                  <a:latin typeface="Aptos" panose="020B0004020202020204" pitchFamily="34" charset="0"/>
                  <a:ea typeface="Montserrat Bold"/>
                  <a:cs typeface="Montserrat Bold"/>
                  <a:sym typeface="Montserrat Bold"/>
                </a:rPr>
                <a:t>Expected Outcome</a:t>
              </a:r>
            </a:p>
            <a:p>
              <a:pPr algn="ctr">
                <a:lnSpc>
                  <a:spcPts val="3239"/>
                </a:lnSpc>
              </a:pPr>
              <a:r>
                <a:rPr lang="en-US" sz="2699" b="1">
                  <a:solidFill>
                    <a:srgbClr val="C0392B"/>
                  </a:solidFill>
                  <a:latin typeface="Aptos" panose="020B0004020202020204" pitchFamily="34" charset="0"/>
                  <a:ea typeface="Montserrat Bold"/>
                  <a:cs typeface="Montserrat Bold"/>
                  <a:sym typeface="Montserrat Bold"/>
                </a:rPr>
                <a:t> Faster strategic decisions</a:t>
              </a:r>
            </a:p>
          </p:txBody>
        </p:sp>
      </p:grpSp>
      <p:sp>
        <p:nvSpPr>
          <p:cNvPr id="71" name="Freeform 64">
            <a:extLst>
              <a:ext uri="{FF2B5EF4-FFF2-40B4-BE49-F238E27FC236}">
                <a16:creationId xmlns:a16="http://schemas.microsoft.com/office/drawing/2014/main" id="{C92BDCC4-7B2B-403C-BF5F-5104F9603A8A}"/>
              </a:ext>
            </a:extLst>
          </p:cNvPr>
          <p:cNvSpPr/>
          <p:nvPr/>
        </p:nvSpPr>
        <p:spPr>
          <a:xfrm>
            <a:off x="5160476" y="5292213"/>
            <a:ext cx="2473028" cy="1570373"/>
          </a:xfrm>
          <a:custGeom>
            <a:avLst/>
            <a:gdLst/>
            <a:ahLst/>
            <a:cxnLst/>
            <a:rect l="l" t="t" r="r" b="b"/>
            <a:pathLst>
              <a:path w="2473028" h="1570373">
                <a:moveTo>
                  <a:pt x="0" y="0"/>
                </a:moveTo>
                <a:lnTo>
                  <a:pt x="2473028" y="0"/>
                </a:lnTo>
                <a:lnTo>
                  <a:pt x="2473028" y="1570373"/>
                </a:lnTo>
                <a:lnTo>
                  <a:pt x="0" y="15703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2CEC0C-FCA9-316C-14A5-954FFA7CC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Freeform 16">
            <a:extLst>
              <a:ext uri="{FF2B5EF4-FFF2-40B4-BE49-F238E27FC236}">
                <a16:creationId xmlns:a16="http://schemas.microsoft.com/office/drawing/2014/main" id="{F18DC3B9-925D-E973-42E6-BEC8CEEB7CB1}"/>
              </a:ext>
            </a:extLst>
          </p:cNvPr>
          <p:cNvSpPr/>
          <p:nvPr/>
        </p:nvSpPr>
        <p:spPr>
          <a:xfrm>
            <a:off x="16611600" y="4254294"/>
            <a:ext cx="4129109" cy="3055951"/>
          </a:xfrm>
          <a:custGeom>
            <a:avLst/>
            <a:gdLst/>
            <a:ahLst/>
            <a:cxnLst/>
            <a:rect l="l" t="t" r="r" b="b"/>
            <a:pathLst>
              <a:path w="4129109" h="2079569">
                <a:moveTo>
                  <a:pt x="0" y="0"/>
                </a:moveTo>
                <a:lnTo>
                  <a:pt x="4129108" y="0"/>
                </a:lnTo>
                <a:lnTo>
                  <a:pt x="4129108" y="2079569"/>
                </a:lnTo>
                <a:lnTo>
                  <a:pt x="0" y="20795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A266F31A-0891-F3EC-7A74-F64CCF2B8692}"/>
              </a:ext>
            </a:extLst>
          </p:cNvPr>
          <p:cNvGrpSpPr/>
          <p:nvPr/>
        </p:nvGrpSpPr>
        <p:grpSpPr>
          <a:xfrm>
            <a:off x="0" y="0"/>
            <a:ext cx="18288000" cy="2011680"/>
            <a:chOff x="0" y="0"/>
            <a:chExt cx="24384000" cy="268224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AD92F36-3708-7FF6-6805-FDDA32D13505}"/>
                </a:ext>
              </a:extLst>
            </p:cNvPr>
            <p:cNvSpPr/>
            <p:nvPr/>
          </p:nvSpPr>
          <p:spPr>
            <a:xfrm>
              <a:off x="0" y="0"/>
              <a:ext cx="24384000" cy="2682240"/>
            </a:xfrm>
            <a:custGeom>
              <a:avLst/>
              <a:gdLst/>
              <a:ahLst/>
              <a:cxnLst/>
              <a:rect l="l" t="t" r="r" b="b"/>
              <a:pathLst>
                <a:path w="24384000" h="2682240">
                  <a:moveTo>
                    <a:pt x="0" y="0"/>
                  </a:moveTo>
                  <a:lnTo>
                    <a:pt x="24384000" y="0"/>
                  </a:lnTo>
                  <a:lnTo>
                    <a:pt x="2438400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sp>
        <p:nvSpPr>
          <p:cNvPr id="51" name="TextBox 51">
            <a:extLst>
              <a:ext uri="{FF2B5EF4-FFF2-40B4-BE49-F238E27FC236}">
                <a16:creationId xmlns:a16="http://schemas.microsoft.com/office/drawing/2014/main" id="{143004E7-D6AA-8281-27B3-42827B01330B}"/>
              </a:ext>
            </a:extLst>
          </p:cNvPr>
          <p:cNvSpPr txBox="1"/>
          <p:nvPr/>
        </p:nvSpPr>
        <p:spPr>
          <a:xfrm>
            <a:off x="2327128" y="680421"/>
            <a:ext cx="14387198" cy="84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79"/>
              </a:lnSpc>
            </a:pPr>
            <a:r>
              <a:rPr lang="en-US" sz="6800" b="1" dirty="0">
                <a:solidFill>
                  <a:srgbClr val="F5E6C8"/>
                </a:solidFill>
                <a:latin typeface="Aptos Display" panose="020B0004020202020204" pitchFamily="34" charset="0"/>
                <a:ea typeface="Montserrat Bold"/>
                <a:cs typeface="Montserrat Bold"/>
                <a:sym typeface="Montserrat Bold"/>
              </a:rPr>
              <a:t>EXECUTIVE</a:t>
            </a:r>
            <a:r>
              <a:rPr lang="en-US" sz="7200" b="1" dirty="0">
                <a:solidFill>
                  <a:srgbClr val="F5E6C8"/>
                </a:solidFill>
                <a:latin typeface="Aptos Display" panose="020B0004020202020204" pitchFamily="34" charset="0"/>
                <a:ea typeface="Montserrat Bold"/>
                <a:cs typeface="Montserrat Bold"/>
                <a:sym typeface="Montserrat Bold"/>
              </a:rPr>
              <a:t> SUMMARY</a:t>
            </a:r>
          </a:p>
        </p:txBody>
      </p:sp>
      <p:sp>
        <p:nvSpPr>
          <p:cNvPr id="49" name="Freeform 8"/>
          <p:cNvSpPr/>
          <p:nvPr/>
        </p:nvSpPr>
        <p:spPr>
          <a:xfrm>
            <a:off x="9050700" y="7360740"/>
            <a:ext cx="720000" cy="720000"/>
          </a:xfrm>
          <a:custGeom>
            <a:avLst/>
            <a:gdLst/>
            <a:ahLst/>
            <a:cxnLst/>
            <a:rect l="l" t="t" r="r" b="b"/>
            <a:pathLst>
              <a:path w="4572285" h="4605781">
                <a:moveTo>
                  <a:pt x="0" y="0"/>
                </a:moveTo>
                <a:lnTo>
                  <a:pt x="4572285" y="0"/>
                </a:lnTo>
                <a:lnTo>
                  <a:pt x="4572285" y="4605782"/>
                </a:lnTo>
                <a:lnTo>
                  <a:pt x="0" y="46057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2" name="Freeform 9"/>
          <p:cNvSpPr/>
          <p:nvPr/>
        </p:nvSpPr>
        <p:spPr>
          <a:xfrm>
            <a:off x="9050700" y="6175920"/>
            <a:ext cx="720000" cy="720000"/>
          </a:xfrm>
          <a:custGeom>
            <a:avLst/>
            <a:gdLst/>
            <a:ahLst/>
            <a:cxnLst/>
            <a:rect l="l" t="t" r="r" b="b"/>
            <a:pathLst>
              <a:path w="4691074" h="4605781">
                <a:moveTo>
                  <a:pt x="0" y="0"/>
                </a:moveTo>
                <a:lnTo>
                  <a:pt x="4691074" y="0"/>
                </a:lnTo>
                <a:lnTo>
                  <a:pt x="4691074" y="4605782"/>
                </a:lnTo>
                <a:lnTo>
                  <a:pt x="0" y="46057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dirty="0">
              <a:latin typeface="Aptos Display" panose="020B0004020202020204" pitchFamily="34" charset="0"/>
            </a:endParaRPr>
          </a:p>
        </p:txBody>
      </p:sp>
      <p:sp>
        <p:nvSpPr>
          <p:cNvPr id="69" name="Freeform 10"/>
          <p:cNvSpPr/>
          <p:nvPr/>
        </p:nvSpPr>
        <p:spPr>
          <a:xfrm>
            <a:off x="9050700" y="4991100"/>
            <a:ext cx="720000" cy="720000"/>
          </a:xfrm>
          <a:custGeom>
            <a:avLst/>
            <a:gdLst/>
            <a:ahLst/>
            <a:cxnLst/>
            <a:rect l="l" t="t" r="r" b="b"/>
            <a:pathLst>
              <a:path w="4597407" h="4605781">
                <a:moveTo>
                  <a:pt x="0" y="0"/>
                </a:moveTo>
                <a:lnTo>
                  <a:pt x="4597407" y="0"/>
                </a:lnTo>
                <a:lnTo>
                  <a:pt x="4597407" y="4605782"/>
                </a:lnTo>
                <a:lnTo>
                  <a:pt x="0" y="46057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 dirty="0">
              <a:latin typeface="Aptos Display" panose="020B0004020202020204" pitchFamily="34" charset="0"/>
            </a:endParaRPr>
          </a:p>
        </p:txBody>
      </p:sp>
      <p:sp>
        <p:nvSpPr>
          <p:cNvPr id="70" name="Freeform 11"/>
          <p:cNvSpPr/>
          <p:nvPr/>
        </p:nvSpPr>
        <p:spPr>
          <a:xfrm>
            <a:off x="9050700" y="4000500"/>
            <a:ext cx="720000" cy="720000"/>
          </a:xfrm>
          <a:custGeom>
            <a:avLst/>
            <a:gdLst/>
            <a:ahLst/>
            <a:cxnLst/>
            <a:rect l="l" t="t" r="r" b="b"/>
            <a:pathLst>
              <a:path w="4622591" h="4605781">
                <a:moveTo>
                  <a:pt x="0" y="0"/>
                </a:moveTo>
                <a:lnTo>
                  <a:pt x="4622591" y="0"/>
                </a:lnTo>
                <a:lnTo>
                  <a:pt x="4622591" y="4605782"/>
                </a:lnTo>
                <a:lnTo>
                  <a:pt x="0" y="46057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 dirty="0">
              <a:latin typeface="Aptos Display" panose="020B0004020202020204" pitchFamily="34" charset="0"/>
            </a:endParaRPr>
          </a:p>
        </p:txBody>
      </p:sp>
      <p:sp>
        <p:nvSpPr>
          <p:cNvPr id="72" name="Freeform 11">
            <a:extLst>
              <a:ext uri="{FF2B5EF4-FFF2-40B4-BE49-F238E27FC236}">
                <a16:creationId xmlns:a16="http://schemas.microsoft.com/office/drawing/2014/main" id="{BE9572A2-AD43-FB66-DF0F-D556238C064C}"/>
              </a:ext>
            </a:extLst>
          </p:cNvPr>
          <p:cNvSpPr/>
          <p:nvPr/>
        </p:nvSpPr>
        <p:spPr>
          <a:xfrm>
            <a:off x="9038410" y="8385720"/>
            <a:ext cx="720000" cy="720000"/>
          </a:xfrm>
          <a:custGeom>
            <a:avLst/>
            <a:gdLst/>
            <a:ahLst/>
            <a:cxnLst/>
            <a:rect l="l" t="t" r="r" b="b"/>
            <a:pathLst>
              <a:path w="4622591" h="4605781">
                <a:moveTo>
                  <a:pt x="0" y="0"/>
                </a:moveTo>
                <a:lnTo>
                  <a:pt x="4622591" y="0"/>
                </a:lnTo>
                <a:lnTo>
                  <a:pt x="4622591" y="4605782"/>
                </a:lnTo>
                <a:lnTo>
                  <a:pt x="0" y="46057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 dirty="0">
              <a:latin typeface="Aptos Display" panose="020B0004020202020204" pitchFamily="34" charset="0"/>
            </a:endParaRPr>
          </a:p>
        </p:txBody>
      </p:sp>
      <p:graphicFrame>
        <p:nvGraphicFramePr>
          <p:cNvPr id="103" name="Table 102">
            <a:extLst>
              <a:ext uri="{FF2B5EF4-FFF2-40B4-BE49-F238E27FC236}">
                <a16:creationId xmlns:a16="http://schemas.microsoft.com/office/drawing/2014/main" id="{B15A4B3D-85C9-AACB-0B37-5E5659C6BD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8600024"/>
              </p:ext>
            </p:extLst>
          </p:nvPr>
        </p:nvGraphicFramePr>
        <p:xfrm>
          <a:off x="1676400" y="2476500"/>
          <a:ext cx="15468600" cy="693420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7734300">
                  <a:extLst>
                    <a:ext uri="{9D8B030D-6E8A-4147-A177-3AD203B41FA5}">
                      <a16:colId xmlns:a16="http://schemas.microsoft.com/office/drawing/2014/main" val="1143749069"/>
                    </a:ext>
                  </a:extLst>
                </a:gridCol>
                <a:gridCol w="7734300">
                  <a:extLst>
                    <a:ext uri="{9D8B030D-6E8A-4147-A177-3AD203B41FA5}">
                      <a16:colId xmlns:a16="http://schemas.microsoft.com/office/drawing/2014/main" val="2076083731"/>
                    </a:ext>
                  </a:extLst>
                </a:gridCol>
              </a:tblGrid>
              <a:tr h="11557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600" dirty="0">
                          <a:latin typeface="Aptos Display" panose="020B0004020202020204" pitchFamily="34" charset="0"/>
                        </a:rPr>
                        <a:t>Findings</a:t>
                      </a:r>
                      <a:endParaRPr lang="en-IN" sz="3600" dirty="0">
                        <a:latin typeface="Aptos Display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600" dirty="0">
                          <a:latin typeface="Aptos Display" panose="020B0004020202020204" pitchFamily="34" charset="0"/>
                        </a:rPr>
                        <a:t>Business Impact</a:t>
                      </a:r>
                      <a:endParaRPr lang="en-IN" sz="3600" dirty="0">
                        <a:latin typeface="Aptos Display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4725702"/>
                  </a:ext>
                </a:extLst>
              </a:tr>
              <a:tr h="11557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b="1" dirty="0">
                          <a:solidFill>
                            <a:srgbClr val="C0392B"/>
                          </a:solidFill>
                          <a:latin typeface="Aptos Display" panose="020B0004020202020204" pitchFamily="34" charset="0"/>
                        </a:rPr>
                        <a:t>Large pizzas drive revenue</a:t>
                      </a:r>
                      <a:endParaRPr lang="en-IN" sz="2800" b="1" dirty="0">
                        <a:solidFill>
                          <a:srgbClr val="C0392B"/>
                        </a:solidFill>
                        <a:latin typeface="Aptos Display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b="1" dirty="0">
                          <a:solidFill>
                            <a:srgbClr val="C0392B"/>
                          </a:solidFill>
                          <a:latin typeface="Aptos Display" panose="020B0004020202020204" pitchFamily="34" charset="0"/>
                        </a:rPr>
                        <a:t>Focus on premium sizes</a:t>
                      </a:r>
                      <a:endParaRPr lang="en-IN" sz="2800" b="1" dirty="0">
                        <a:solidFill>
                          <a:srgbClr val="C0392B"/>
                        </a:solidFill>
                        <a:latin typeface="Aptos Display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9092041"/>
                  </a:ext>
                </a:extLst>
              </a:tr>
              <a:tr h="11557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 dirty="0">
                          <a:solidFill>
                            <a:srgbClr val="C0392B"/>
                          </a:solidFill>
                          <a:latin typeface="Aptos Display" panose="020B0004020202020204" pitchFamily="34" charset="0"/>
                        </a:rPr>
                        <a:t>Weekdays generate 73% of orders</a:t>
                      </a:r>
                      <a:endParaRPr lang="en-US" sz="2800" b="1" dirty="0">
                        <a:solidFill>
                          <a:srgbClr val="C0392B"/>
                        </a:solidFill>
                        <a:latin typeface="Aptos Display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b="1" dirty="0">
                          <a:solidFill>
                            <a:srgbClr val="C0392B"/>
                          </a:solidFill>
                          <a:latin typeface="Aptos Display" panose="020B0004020202020204" pitchFamily="34" charset="0"/>
                        </a:rPr>
                        <a:t>Optimize weekday staffing</a:t>
                      </a:r>
                      <a:endParaRPr lang="en-IN" sz="2800" b="1" dirty="0">
                        <a:solidFill>
                          <a:srgbClr val="C0392B"/>
                        </a:solidFill>
                        <a:latin typeface="Aptos Display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69790"/>
                  </a:ext>
                </a:extLst>
              </a:tr>
              <a:tr h="11557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b="1" dirty="0">
                          <a:solidFill>
                            <a:srgbClr val="C0392B"/>
                          </a:solidFill>
                          <a:latin typeface="Aptos Display" panose="020B0004020202020204" pitchFamily="34" charset="0"/>
                        </a:rPr>
                        <a:t>July recorded highest sales</a:t>
                      </a:r>
                      <a:endParaRPr lang="en-IN" sz="2800" b="1" dirty="0">
                        <a:solidFill>
                          <a:srgbClr val="C0392B"/>
                        </a:solidFill>
                        <a:latin typeface="Aptos Display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b="1" dirty="0">
                          <a:solidFill>
                            <a:srgbClr val="C0392B"/>
                          </a:solidFill>
                          <a:latin typeface="Aptos Display" panose="020B0004020202020204" pitchFamily="34" charset="0"/>
                        </a:rPr>
                        <a:t>Increase mid-year inventory</a:t>
                      </a:r>
                      <a:endParaRPr lang="en-IN" sz="2800" b="1" dirty="0">
                        <a:solidFill>
                          <a:srgbClr val="C0392B"/>
                        </a:solidFill>
                        <a:latin typeface="Aptos Display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202471"/>
                  </a:ext>
                </a:extLst>
              </a:tr>
              <a:tr h="11557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 dirty="0">
                          <a:solidFill>
                            <a:srgbClr val="C0392B"/>
                          </a:solidFill>
                          <a:latin typeface="Aptos Display" panose="020B0004020202020204" pitchFamily="34" charset="0"/>
                        </a:rPr>
                        <a:t>Top 5 pizzas dominate revenue</a:t>
                      </a:r>
                      <a:endParaRPr lang="en-US" sz="2800" b="1" dirty="0">
                        <a:solidFill>
                          <a:srgbClr val="C0392B"/>
                        </a:solidFill>
                        <a:latin typeface="Aptos Display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b="1" dirty="0">
                          <a:solidFill>
                            <a:srgbClr val="C0392B"/>
                          </a:solidFill>
                          <a:latin typeface="Aptos Display" panose="020B0004020202020204" pitchFamily="34" charset="0"/>
                        </a:rPr>
                        <a:t>Promote best sellers</a:t>
                      </a:r>
                      <a:endParaRPr lang="en-IN" sz="2800" b="1" dirty="0">
                        <a:solidFill>
                          <a:srgbClr val="C0392B"/>
                        </a:solidFill>
                        <a:latin typeface="Aptos Display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8638665"/>
                  </a:ext>
                </a:extLst>
              </a:tr>
              <a:tr h="11557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 dirty="0">
                          <a:solidFill>
                            <a:srgbClr val="C0392B"/>
                          </a:solidFill>
                          <a:latin typeface="Aptos Display" panose="020B0004020202020204" pitchFamily="34" charset="0"/>
                        </a:rPr>
                        <a:t>Bottom 5 pizzas contribute &lt;1% each</a:t>
                      </a:r>
                      <a:endParaRPr lang="en-US" sz="2800" b="1" dirty="0">
                        <a:solidFill>
                          <a:srgbClr val="C0392B"/>
                        </a:solidFill>
                        <a:latin typeface="Aptos Display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b="1" dirty="0">
                          <a:solidFill>
                            <a:srgbClr val="C0392B"/>
                          </a:solidFill>
                          <a:latin typeface="Aptos Display" panose="020B0004020202020204" pitchFamily="34" charset="0"/>
                        </a:rPr>
                        <a:t>Review menu performance</a:t>
                      </a:r>
                      <a:endParaRPr lang="en-IN" sz="2800" b="1" dirty="0">
                        <a:solidFill>
                          <a:srgbClr val="C0392B"/>
                        </a:solidFill>
                        <a:latin typeface="Aptos Display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144598"/>
                  </a:ext>
                </a:extLst>
              </a:tr>
            </a:tbl>
          </a:graphicData>
        </a:graphic>
      </p:graphicFrame>
      <p:sp>
        <p:nvSpPr>
          <p:cNvPr id="104" name="Freeform 17">
            <a:extLst>
              <a:ext uri="{FF2B5EF4-FFF2-40B4-BE49-F238E27FC236}">
                <a16:creationId xmlns:a16="http://schemas.microsoft.com/office/drawing/2014/main" id="{8BC737D3-09C9-C8B8-53C5-329ACC54288A}"/>
              </a:ext>
            </a:extLst>
          </p:cNvPr>
          <p:cNvSpPr/>
          <p:nvPr/>
        </p:nvSpPr>
        <p:spPr>
          <a:xfrm flipH="1">
            <a:off x="-1524000" y="7704923"/>
            <a:ext cx="4411959" cy="2801594"/>
          </a:xfrm>
          <a:custGeom>
            <a:avLst/>
            <a:gdLst/>
            <a:ahLst/>
            <a:cxnLst/>
            <a:rect l="l" t="t" r="r" b="b"/>
            <a:pathLst>
              <a:path w="4411959" h="2801594">
                <a:moveTo>
                  <a:pt x="4411958" y="0"/>
                </a:moveTo>
                <a:lnTo>
                  <a:pt x="0" y="0"/>
                </a:lnTo>
                <a:lnTo>
                  <a:pt x="0" y="2801593"/>
                </a:lnTo>
                <a:lnTo>
                  <a:pt x="4411958" y="2801593"/>
                </a:lnTo>
                <a:lnTo>
                  <a:pt x="4411958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7010138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3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27814" y="-710303"/>
            <a:ext cx="3542414" cy="3478006"/>
          </a:xfrm>
          <a:custGeom>
            <a:avLst/>
            <a:gdLst/>
            <a:ahLst/>
            <a:cxnLst/>
            <a:rect l="l" t="t" r="r" b="b"/>
            <a:pathLst>
              <a:path w="3542414" h="3478006">
                <a:moveTo>
                  <a:pt x="0" y="0"/>
                </a:moveTo>
                <a:lnTo>
                  <a:pt x="3542414" y="0"/>
                </a:lnTo>
                <a:lnTo>
                  <a:pt x="3542414" y="3478006"/>
                </a:lnTo>
                <a:lnTo>
                  <a:pt x="0" y="34780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956280" y="-550879"/>
            <a:ext cx="3284352" cy="3308413"/>
          </a:xfrm>
          <a:custGeom>
            <a:avLst/>
            <a:gdLst/>
            <a:ahLst/>
            <a:cxnLst/>
            <a:rect l="l" t="t" r="r" b="b"/>
            <a:pathLst>
              <a:path w="3284352" h="3308413">
                <a:moveTo>
                  <a:pt x="0" y="0"/>
                </a:moveTo>
                <a:lnTo>
                  <a:pt x="3284352" y="0"/>
                </a:lnTo>
                <a:lnTo>
                  <a:pt x="3284352" y="3308412"/>
                </a:lnTo>
                <a:lnTo>
                  <a:pt x="0" y="33084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422821" y="5601033"/>
            <a:ext cx="9442357" cy="5995353"/>
          </a:xfrm>
          <a:custGeom>
            <a:avLst/>
            <a:gdLst/>
            <a:ahLst/>
            <a:cxnLst/>
            <a:rect l="l" t="t" r="r" b="b"/>
            <a:pathLst>
              <a:path w="9442357" h="5995353">
                <a:moveTo>
                  <a:pt x="0" y="0"/>
                </a:moveTo>
                <a:lnTo>
                  <a:pt x="9442358" y="0"/>
                </a:lnTo>
                <a:lnTo>
                  <a:pt x="9442358" y="5995353"/>
                </a:lnTo>
                <a:lnTo>
                  <a:pt x="0" y="59953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" b="-4"/>
            </a:stretch>
          </a:blipFill>
        </p:spPr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EA02450-61EA-DC12-E26A-E4EC89B28343}"/>
              </a:ext>
            </a:extLst>
          </p:cNvPr>
          <p:cNvSpPr txBox="1"/>
          <p:nvPr/>
        </p:nvSpPr>
        <p:spPr>
          <a:xfrm>
            <a:off x="1524000" y="3009900"/>
            <a:ext cx="15849600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i="1" dirty="0">
                <a:solidFill>
                  <a:srgbClr val="F5E6C8"/>
                </a:solidFill>
                <a:latin typeface="Aptos Display" panose="020B0004020202020204" pitchFamily="34" charset="0"/>
              </a:rPr>
              <a:t>This analysis demonstrates how data-driven decision-making can improve sales performance, optimize operations, and enhance customer satisfaction.</a:t>
            </a:r>
          </a:p>
          <a:p>
            <a:endParaRPr lang="en-US" sz="3600" b="1" dirty="0">
              <a:solidFill>
                <a:srgbClr val="F5E6C8"/>
              </a:solidFill>
              <a:latin typeface="Aptos Display" panose="020B0004020202020204" pitchFamily="34" charset="0"/>
            </a:endParaRPr>
          </a:p>
          <a:p>
            <a:pPr algn="ctr"/>
            <a:r>
              <a:rPr lang="en-US" sz="4800" b="1" dirty="0">
                <a:solidFill>
                  <a:srgbClr val="F5E6C8"/>
                </a:solidFill>
                <a:latin typeface="Aptos Display" panose="020B0004020202020204" pitchFamily="34" charset="0"/>
              </a:rPr>
              <a:t>Thank You!</a:t>
            </a:r>
            <a:endParaRPr lang="en-IN" sz="4800" b="1" dirty="0">
              <a:solidFill>
                <a:srgbClr val="F5E6C8"/>
              </a:solidFill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680</TotalTime>
  <Words>719</Words>
  <Application>Microsoft Office PowerPoint</Application>
  <PresentationFormat>Custom</PresentationFormat>
  <Paragraphs>163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Calibri</vt:lpstr>
      <vt:lpstr>Aptos Display</vt:lpstr>
      <vt:lpstr>Arial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 and Beige Modern Pizza Restaurant Presentation</dc:title>
  <dc:creator>Sarv_sukh</dc:creator>
  <cp:lastModifiedBy>Sukhada Kulkarni</cp:lastModifiedBy>
  <cp:revision>5</cp:revision>
  <dcterms:created xsi:type="dcterms:W3CDTF">2006-08-16T00:00:00Z</dcterms:created>
  <dcterms:modified xsi:type="dcterms:W3CDTF">2026-08-06T09:23:47Z</dcterms:modified>
  <dc:identifier>DAHRNVlAnbA</dc:identifier>
</cp:coreProperties>
</file>